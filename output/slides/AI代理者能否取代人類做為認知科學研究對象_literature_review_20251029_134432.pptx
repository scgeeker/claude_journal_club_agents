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AI代理者能否取代人類作為認知科學研究對象？</a:t>
            </a:r>
          </a:p>
        </p:txBody>
      </p:sp>
      <p:sp>
        <p:nvSpPr>
          <p:cNvPr id="3" name="Subtitle 2"/>
          <p:cNvSpPr>
            <a:spLocks noGrp="1"/>
          </p:cNvSpPr>
          <p:nvPr>
            <p:ph type="subTitle" idx="1"/>
          </p:nvPr>
        </p:nvSpPr>
        <p:spPr/>
        <p:txBody>
          <a:bodyPr/>
          <a:lstStyle/>
          <a:p>
            <a:r>
              <a:t>探討AI模擬與認知科學研究泛化性的挑戰</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背景介紹：認知科學研究的現狀與挑戰</a:t>
            </a:r>
          </a:p>
        </p:txBody>
      </p:sp>
      <p:sp>
        <p:nvSpPr>
          <p:cNvPr id="3" name="Content Placeholder 2"/>
          <p:cNvSpPr>
            <a:spLocks noGrp="1"/>
          </p:cNvSpPr>
          <p:nvPr>
            <p:ph idx="1"/>
          </p:nvPr>
        </p:nvSpPr>
        <p:spPr/>
        <p:txBody>
          <a:bodyPr wrap="square"/>
          <a:lstStyle/>
          <a:p/>
          <a:p>
            <a:pPr>
              <a:lnSpc>
                <a:spcPct val="100000"/>
              </a:lnSpc>
              <a:spcBef>
                <a:spcPts val="300"/>
              </a:spcBef>
              <a:spcAft>
                <a:spcPts val="300"/>
              </a:spcAft>
              <a:defRPr sz="1200"/>
            </a:pPr>
            <a:r>
              <a:t>人類受試者研究的局限性 (Limitations of Human Subject Research)：傳統認知科學研究高度依賴人類受試者，但這類研究常面臨樣本多樣性不足的挑戰。大多數研究樣本往往集中於特定文化背景、教育程度和社會經濟群體，導致研究結果的泛化性（Generalizability）受到質疑。</a:t>
            </a:r>
          </a:p>
          <a:p>
            <a:pPr>
              <a:lnSpc>
                <a:spcPct val="100000"/>
              </a:lnSpc>
              <a:spcBef>
                <a:spcPts val="300"/>
              </a:spcBef>
              <a:spcAft>
                <a:spcPts val="300"/>
              </a:spcAft>
              <a:defRPr sz="1200"/>
            </a:pPr>
            <a:r>
              <a:t>泛化性困境 (Generalizability Dilemma)：現有研究成果往往難以推廣到更廣泛的人類群體或不同的環境背景，這限制了我們對人類認知普適性規律的理解。長期以來，如何有效提升研究結果的泛化性，一直是認知科學領域亟待解決的核心問題。</a:t>
            </a:r>
          </a:p>
          <a:p>
            <a:pPr>
              <a:lnSpc>
                <a:spcPct val="100000"/>
              </a:lnSpc>
              <a:spcBef>
                <a:spcPts val="300"/>
              </a:spcBef>
              <a:spcAft>
                <a:spcPts val="300"/>
              </a:spcAft>
              <a:defRPr sz="1200"/>
            </a:pPr>
            <a:r>
              <a:t>實驗設計空間的限制 (Constraints on Experimental Design Space)：單一實驗室研究在刺激物和情境的探索範圍上存在固有局限，難以涵蓋認知行為可能發生的所有廣泛設計空間。這使得研究者難以針對多變的環境和行為模式提出普遍性的主張。</a:t>
            </a:r>
          </a:p>
          <a:p>
            <a:pPr>
              <a:lnSpc>
                <a:spcPct val="100000"/>
              </a:lnSpc>
              <a:spcBef>
                <a:spcPts val="300"/>
              </a:spcBef>
              <a:spcAft>
                <a:spcPts val="300"/>
              </a:spcAft>
              <a:defRPr sz="1200"/>
            </a:pPr>
            <a:r>
              <a:t>AI技術的崛起 (Rise of AI Technology)：近年來，人工智慧（Artificial Intelligence, AI）技術，特別是大型語言模型（Large Language Models, LLMs），取得了顯著進展。這些模型展現出驚人的「類人」語言能力，並能在多種認知任務上模仿人類表現。</a:t>
            </a:r>
          </a:p>
          <a:p>
            <a:pPr>
              <a:lnSpc>
                <a:spcPct val="100000"/>
              </a:lnSpc>
              <a:spcBef>
                <a:spcPts val="300"/>
              </a:spcBef>
              <a:spcAft>
                <a:spcPts val="300"/>
              </a:spcAft>
              <a:defRPr sz="1200"/>
            </a:pPr>
            <a:r>
              <a:t>對解決研究挑戰的期待 (Expectations for Addressing Research Challenges)：AI的這些新發展，讓一些研究者看到解決認知科學長期挑戰的曙光。他們認為AI技術可能提供新的工具，以克服目前人類受試者研究在成本、時間和泛化性方面的限制。</a:t>
            </a:r>
          </a:p>
          <a:p>
            <a:pPr>
              <a:lnSpc>
                <a:spcPct val="100000"/>
              </a:lnSpc>
              <a:spcBef>
                <a:spcPts val="300"/>
              </a:spcBef>
              <a:spcAft>
                <a:spcPts val="300"/>
              </a:spcAft>
              <a:defRPr sz="1200"/>
            </a:pPr>
            <a:r>
              <a:t>本文旨趣 (Purpose of This Paper)：本文旨在探討利用AI模型模擬人類研究參與者（即AI Surrogates，AI代理者）的潛力與風險。雖然AI代理者被寄予厚望，但作者提出警示，過度依賴它們可能反而加劇而非解決泛化性問題。</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AI代理者的願景：認知科學研究的新範式</a:t>
            </a:r>
          </a:p>
        </p:txBody>
      </p:sp>
      <p:sp>
        <p:nvSpPr>
          <p:cNvPr id="3" name="Content Placeholder 2"/>
          <p:cNvSpPr>
            <a:spLocks noGrp="1"/>
          </p:cNvSpPr>
          <p:nvPr>
            <p:ph idx="1"/>
          </p:nvPr>
        </p:nvSpPr>
        <p:spPr/>
        <p:txBody>
          <a:bodyPr wrap="square"/>
          <a:lstStyle/>
          <a:p/>
          <a:p>
            <a:pPr>
              <a:lnSpc>
                <a:spcPct val="90000"/>
              </a:lnSpc>
              <a:spcBef>
                <a:spcPts val="300"/>
              </a:spcBef>
              <a:spcAft>
                <a:spcPts val="300"/>
              </a:spcAft>
              <a:defRPr sz="1100"/>
            </a:pPr>
            <a:r>
              <a:t>AI代理者的定義與前景 (Definition and Prospects of AI Surrogates)：AI代理者 (AI Surrogates) 被定義為設計用來模擬人類研究參與者的AI模型，旨在生成關於人類認知和行為的新知識。這種願景承諾透過技術手段革新認知科學研究方式，提供前所未有的研究機會。</a:t>
            </a:r>
          </a:p>
          <a:p>
            <a:pPr>
              <a:lnSpc>
                <a:spcPct val="90000"/>
              </a:lnSpc>
              <a:spcBef>
                <a:spcPts val="300"/>
              </a:spcBef>
              <a:spcAft>
                <a:spcPts val="300"/>
              </a:spcAft>
              <a:defRPr sz="1100"/>
            </a:pPr>
            <a:r>
              <a:t>提高研究泛化性的承諾 (Promise to Enhance Research Generalizability)：倡導者認為，AI代理者有望擴大認知科學研究中可行的群體多樣性和情境廣度。透過模擬來自不同背景的虛擬參與者，研究可以超越地理和社會經濟的限制。</a:t>
            </a:r>
          </a:p>
          <a:p>
            <a:pPr>
              <a:lnSpc>
                <a:spcPct val="90000"/>
              </a:lnSpc>
              <a:spcBef>
                <a:spcPts val="300"/>
              </a:spcBef>
              <a:spcAft>
                <a:spcPts val="300"/>
              </a:spcAft>
              <a:defRPr sz="1100"/>
            </a:pPr>
            <a:r>
              <a:t>解決樣本多樣性不足 (Addressing Insufficient Sample Diversity)：傳統研究常因地域、成本和倫理考量，難以招募到足夠多樣化的參與者。AI代理者被視為一種快速且經濟的方式，可以改善研究在不同人群間的泛化能力，例如模擬特定人口統計學群體。</a:t>
            </a:r>
          </a:p>
          <a:p>
            <a:pPr>
              <a:lnSpc>
                <a:spcPct val="90000"/>
              </a:lnSpc>
              <a:spcBef>
                <a:spcPts val="300"/>
              </a:spcBef>
              <a:spcAft>
                <a:spcPts val="300"/>
              </a:spcAft>
              <a:defRPr sz="1100"/>
            </a:pPr>
            <a:r>
              <a:t>擴大實驗設計空間的探索 (Expanding Exploration of Experimental Design Spaces)：人類實驗的時間和資源限制，導致研究者只能探索有限的實驗情境和刺激物。AI代理者理論上能夠廉價且快速地在廣闊的實驗設計空間中進行模擬，有助於驗證研究結果在不同環境下的穩健性。</a:t>
            </a:r>
          </a:p>
          <a:p>
            <a:pPr>
              <a:lnSpc>
                <a:spcPct val="90000"/>
              </a:lnSpc>
              <a:spcBef>
                <a:spcPts val="300"/>
              </a:spcBef>
              <a:spcAft>
                <a:spcPts val="300"/>
              </a:spcAft>
              <a:defRPr sz="1100"/>
            </a:pPr>
            <a:r>
              <a:t>複製與預測試的潛力 (Potential for Replication and Pilot Testing)：AI代理者被設想可以用來複製過去的研究發現，並對新的研究設計進行預測試。這不僅可以節省資源，還可以在人類實驗之前發現潛在問題，從而提高研究的效率和可靠性。</a:t>
            </a:r>
          </a:p>
          <a:p>
            <a:pPr>
              <a:lnSpc>
                <a:spcPct val="90000"/>
              </a:lnSpc>
              <a:spcBef>
                <a:spcPts val="300"/>
              </a:spcBef>
              <a:spcAft>
                <a:spcPts val="300"/>
              </a:spcAft>
              <a:defRPr sz="1100"/>
            </a:pPr>
            <a:r>
              <a:t>微觀與宏觀洞察 (Micro- and Macro-level Insights)：AI代理者的應用範圍被設想為廣泛，從個體心智的微觀研究到大規模集體現象的宏觀模擬。這包括理解單一認知過程，以及模擬複雜社會互動和文化傳播。</a:t>
            </a:r>
          </a:p>
          <a:p>
            <a:pPr>
              <a:lnSpc>
                <a:spcPct val="90000"/>
              </a:lnSpc>
              <a:spcBef>
                <a:spcPts val="300"/>
              </a:spcBef>
              <a:spcAft>
                <a:spcPts val="300"/>
              </a:spcAft>
              <a:defRPr sz="1100"/>
            </a:pPr>
            <a:r>
              <a:t>當前主要基於大型語言模型 (Currently Primarily Based on LLMs)：儘管未來AI代理者的研究可能引入更複雜的演算法，但目前大多數提案和研究主要集中於使用大型語言模型（LLMs）作為模擬人類認知的基礎。</a:t>
            </a:r>
          </a:p>
          <a:p>
            <a:pPr>
              <a:lnSpc>
                <a:spcPct val="90000"/>
              </a:lnSpc>
              <a:spcBef>
                <a:spcPts val="300"/>
              </a:spcBef>
              <a:spcAft>
                <a:spcPts val="300"/>
              </a:spcAft>
              <a:defRPr sz="1100"/>
            </a:pPr>
            <a:r>
              <a:t>克服成本與時間限制 (Overcoming Cost and Time Constraints)：對AI代理者的熱情，也源於它們被視為一種能夠大幅降低研究成本和所需時間的工具。這對於那些需要大量數據或複雜實驗設計的研究尤其具有吸引力。</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AI代理者的構成與多樣性</a:t>
            </a:r>
          </a:p>
        </p:txBody>
      </p:sp>
      <p:sp>
        <p:nvSpPr>
          <p:cNvPr id="3" name="Content Placeholder 2"/>
          <p:cNvSpPr>
            <a:spLocks noGrp="1"/>
          </p:cNvSpPr>
          <p:nvPr>
            <p:ph idx="1"/>
          </p:nvPr>
        </p:nvSpPr>
        <p:spPr/>
        <p:txBody>
          <a:bodyPr wrap="square"/>
          <a:lstStyle/>
          <a:p/>
          <a:p>
            <a:pPr>
              <a:lnSpc>
                <a:spcPct val="90000"/>
              </a:lnSpc>
              <a:spcBef>
                <a:spcPts val="300"/>
              </a:spcBef>
              <a:spcAft>
                <a:spcPts val="300"/>
              </a:spcAft>
              <a:defRPr sz="1100"/>
            </a:pPr>
            <a:r>
              <a:t>AI代理者的核心概念 (Core Concept of AI Surrogates)：AI代理者 (AI Surrogates) 旨在作為人類研究參與者的AI模型 (AI Models) 替身，用以產生關於人類認知和行為的新知識。它們的目標是透過模擬來回答傳統上需要人類參與者才能解決的研究問題。</a:t>
            </a:r>
          </a:p>
          <a:p>
            <a:pPr>
              <a:lnSpc>
                <a:spcPct val="90000"/>
              </a:lnSpc>
              <a:spcBef>
                <a:spcPts val="300"/>
              </a:spcBef>
              <a:spcAft>
                <a:spcPts val="300"/>
              </a:spcAft>
              <a:defRPr sz="1100"/>
            </a:pPr>
            <a:r>
              <a:t>主要依託於大型語言模型 (Primary Reliance on Large Language Models)：當前第一波AI代理者研究大多採用現成的大型語言模型 (Large Language Models, LLMs)，特別是OpenAI的GPT系列產品。這些模型的輸出會與人類參與者的表現進行比較，以評估其模擬能力。</a:t>
            </a:r>
          </a:p>
          <a:p>
            <a:pPr>
              <a:lnSpc>
                <a:spcPct val="90000"/>
              </a:lnSpc>
              <a:spcBef>
                <a:spcPts val="300"/>
              </a:spcBef>
              <a:spcAft>
                <a:spcPts val="300"/>
              </a:spcAft>
              <a:defRPr sz="1100"/>
            </a:pPr>
            <a:r>
              <a:t>多樣化的模型架構 (Diverse Model Architectures)：研究者已開發多種方法來引導LLMs產生不同類型的響應。例如，提示工程 (Prompting) 使用書面指令使LLM扮演特定身份或角色，而微調 (Fine-tuning) 則涉及對LLM進行額外訓練以適應特定任務領域。</a:t>
            </a:r>
          </a:p>
          <a:p>
            <a:pPr>
              <a:lnSpc>
                <a:spcPct val="90000"/>
              </a:lnSpc>
              <a:spcBef>
                <a:spcPts val="300"/>
              </a:spcBef>
              <a:spcAft>
                <a:spcPts val="300"/>
              </a:spcAft>
              <a:defRPr sz="1100"/>
            </a:pPr>
            <a:r>
              <a:t>增強型模型 (Augmented Models)：除了基礎LLM，還有增強型模型 (Augmented Models)，它們結合了提示或微調的LLM與其他架構。例如，檢索增強生成 (Retrieval Augmented Generation, RAG) 整合LLM與資訊檢索系統，使其能納入訓練數據中未包含的最新資訊。</a:t>
            </a:r>
          </a:p>
          <a:p>
            <a:pPr>
              <a:lnSpc>
                <a:spcPct val="90000"/>
              </a:lnSpc>
              <a:spcBef>
                <a:spcPts val="300"/>
              </a:spcBef>
              <a:spcAft>
                <a:spcPts val="300"/>
              </a:spcAft>
              <a:defRPr sz="1100"/>
            </a:pPr>
            <a:r>
              <a:t>不同類型的代理者 (Varieties of Agents)：AI代理者被設想能代表不同規模和特異性的人類。有些提案旨在建立能捕捉「整個人類心智」的通用代理者 (Universal Agent)，而另一些則透過提示或微調LLM來代表特定人口統計學群體或甚至具體個體。</a:t>
            </a:r>
          </a:p>
          <a:p>
            <a:pPr>
              <a:lnSpc>
                <a:spcPct val="90000"/>
              </a:lnSpc>
              <a:spcBef>
                <a:spcPts val="300"/>
              </a:spcBef>
              <a:spcAft>
                <a:spcPts val="300"/>
              </a:spcAft>
              <a:defRPr sz="1100"/>
            </a:pPr>
            <a:r>
              <a:t>生成式代理者 (Generative Agents)：當LLMs被提示來代表特定的虛構或基於真實人物文本檔案的個體時，它們被稱為生成式代理者 (Generative agents)。這些具有自我一致性的代理者可以被指示隨著時間的推移進行行動和互動，作為人類行為的模擬模型。</a:t>
            </a:r>
          </a:p>
          <a:p>
            <a:pPr>
              <a:lnSpc>
                <a:spcPct val="90000"/>
              </a:lnSpc>
              <a:spcBef>
                <a:spcPts val="300"/>
              </a:spcBef>
              <a:spcAft>
                <a:spcPts val="300"/>
              </a:spcAft>
              <a:defRPr sz="1100"/>
            </a:pPr>
            <a:r>
              <a:t>廣泛的研究目標 (Broad Research Goals)：AI代理者的應用範圍廣泛，包括評估過去研究結果的可重複性、對實驗設計進行預測試、模擬人類行為以估計研究結果在刺激和人群中的泛化性，以及在虛擬世界中模擬複雜的社會現象。</a:t>
            </a:r>
          </a:p>
          <a:p>
            <a:pPr>
              <a:lnSpc>
                <a:spcPct val="90000"/>
              </a:lnSpc>
              <a:spcBef>
                <a:spcPts val="300"/>
              </a:spcBef>
              <a:spcAft>
                <a:spcPts val="300"/>
              </a:spcAft>
              <a:defRPr sz="1100"/>
            </a:pPr>
            <a:r>
              <a:t>區別於其他AI應用 (Distinction from Other AI Applications)：需要注意的是，AI模型在認知科學中還有許多其他用途，例如探測AI模型能力或將AI模型作為抽象工具探索人類認知的特定維度，這些不屬於AI代理者的範疇。</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大型語言模型（LLMs）作為AI代理者的基礎</a:t>
            </a:r>
          </a:p>
        </p:txBody>
      </p:sp>
      <p:sp>
        <p:nvSpPr>
          <p:cNvPr id="3" name="Content Placeholder 2"/>
          <p:cNvSpPr>
            <a:spLocks noGrp="1"/>
          </p:cNvSpPr>
          <p:nvPr>
            <p:ph idx="1"/>
          </p:nvPr>
        </p:nvSpPr>
        <p:spPr/>
        <p:txBody>
          <a:bodyPr wrap="square"/>
          <a:lstStyle/>
          <a:p/>
          <a:p>
            <a:pPr>
              <a:lnSpc>
                <a:spcPct val="90000"/>
              </a:lnSpc>
              <a:spcBef>
                <a:spcPts val="300"/>
              </a:spcBef>
              <a:spcAft>
                <a:spcPts val="300"/>
              </a:spcAft>
              <a:defRPr sz="1100"/>
            </a:pPr>
            <a:r>
              <a:t>模仿人類表現 (Mimicking Human Performance)：自OpenAI發布ChatGPT以來，數千項研究探討了大型語言模型 (Large Language Models, LLMs) 模擬人類認知和行為的能力。這些模型不僅展現出「類人」自然語言 (Human-like Natural Language) 能力，還能在多種任務上複製人類的表現。</a:t>
            </a:r>
          </a:p>
          <a:p>
            <a:pPr>
              <a:lnSpc>
                <a:spcPct val="90000"/>
              </a:lnSpc>
              <a:spcBef>
                <a:spcPts val="300"/>
              </a:spcBef>
              <a:spcAft>
                <a:spcPts val="300"/>
              </a:spcAft>
              <a:defRPr sz="1100"/>
            </a:pPr>
            <a:r>
              <a:t>廣泛的認知任務覆蓋 (Broad Coverage of Cognitive Tasks)：LLMs已在學習、決策制定、同理心、道德判斷、政治態度等眾多領域中表現出與人類相似的性能。這種廣泛的模仿能力是它們被視為潛在AI代理者的關鍵原因。</a:t>
            </a:r>
          </a:p>
          <a:p>
            <a:pPr>
              <a:lnSpc>
                <a:spcPct val="90000"/>
              </a:lnSpc>
              <a:spcBef>
                <a:spcPts val="300"/>
              </a:spcBef>
              <a:spcAft>
                <a:spcPts val="300"/>
              </a:spcAft>
              <a:defRPr sz="1100"/>
            </a:pPr>
            <a:r>
              <a:t>基於大規模訓練數據 (Based on Large-scale Training Data)：LLMs的這些能力來自於它們在海量文本和數據集上的訓練，這些數據包含了人類語言、知識和行為模式的豐富資訊。這使得它們能夠捕捉並重現複雜的語言結構和語義關係。</a:t>
            </a:r>
          </a:p>
          <a:p>
            <a:pPr>
              <a:lnSpc>
                <a:spcPct val="90000"/>
              </a:lnSpc>
              <a:spcBef>
                <a:spcPts val="300"/>
              </a:spcBef>
              <a:spcAft>
                <a:spcPts val="300"/>
              </a:spcAft>
              <a:defRPr sz="1100"/>
            </a:pPr>
            <a:r>
              <a:t>生成式能力 (Generative Capabilities)：LLMs的核心優勢在於其生成式能力 (Generative Capabilities)，即根據給定的提示或情境生成連貫、相關且具創造性的文本響應。這種能力對於模擬人類在實驗中產生的自由形式反應至關重要。</a:t>
            </a:r>
          </a:p>
          <a:p>
            <a:pPr>
              <a:lnSpc>
                <a:spcPct val="90000"/>
              </a:lnSpc>
              <a:spcBef>
                <a:spcPts val="300"/>
              </a:spcBef>
              <a:spcAft>
                <a:spcPts val="300"/>
              </a:spcAft>
              <a:defRPr sz="1100"/>
            </a:pPr>
            <a:r>
              <a:t>作為實驗刺激和回應生成器 (As Experimental Stimulus and Response Generator)：在AI代理者的應用中，LLMs既可以被用作生成實驗刺激的工具，也可以作為模擬參與者產生反應的引擎。它們可以回答問卷、參與對話，甚至做出決策。</a:t>
            </a:r>
          </a:p>
          <a:p>
            <a:pPr>
              <a:lnSpc>
                <a:spcPct val="90000"/>
              </a:lnSpc>
              <a:spcBef>
                <a:spcPts val="300"/>
              </a:spcBef>
              <a:spcAft>
                <a:spcPts val="300"/>
              </a:spcAft>
              <a:defRPr sz="1100"/>
            </a:pPr>
            <a:r>
              <a:t>初期研究的熱情 (Early Research Enthusiasm)：LLM與人類表現之間的高度一致性，促使一些研究者提出，將AI模擬的人類研究參與者（即AI代理者 (AI Surrogates)）作為獲取人類新知識的有前景工具。</a:t>
            </a:r>
          </a:p>
          <a:p>
            <a:pPr>
              <a:lnSpc>
                <a:spcPct val="90000"/>
              </a:lnSpc>
              <a:spcBef>
                <a:spcPts val="300"/>
              </a:spcBef>
              <a:spcAft>
                <a:spcPts val="300"/>
              </a:spcAft>
              <a:defRPr sz="1100"/>
            </a:pPr>
            <a:r>
              <a:t>潛在的微觀與宏觀洞察 (Potential for Micro- and Macro-level Insights)：倡導者認為，利用LLMs作為AI代理者可以提供從個體心智研究到大規模集體現象的微觀和宏觀洞察。這意味著它們可以幫助理解從個人認知偏差到社會群體行為的廣泛現象。</a:t>
            </a:r>
          </a:p>
          <a:p>
            <a:pPr>
              <a:lnSpc>
                <a:spcPct val="90000"/>
              </a:lnSpc>
              <a:spcBef>
                <a:spcPts val="300"/>
              </a:spcBef>
              <a:spcAft>
                <a:spcPts val="300"/>
              </a:spcAft>
              <a:defRPr sz="1100"/>
            </a:pPr>
            <a:r>
              <a:t>技術解決方案的樂觀態度 (Optimism Towards Technological Solutions)：儘管對LLMs的能力存在爭議，但有些研究者對其缺陷可以透過技術解決方案來彌補抱持樂觀態度，例如透過改進模型架構或訓練方法。</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AI代理者的潛在優勢：提高研究效率與成本效益</a:t>
            </a:r>
          </a:p>
        </p:txBody>
      </p:sp>
      <p:sp>
        <p:nvSpPr>
          <p:cNvPr id="3" name="Content Placeholder 2"/>
          <p:cNvSpPr>
            <a:spLocks noGrp="1"/>
          </p:cNvSpPr>
          <p:nvPr>
            <p:ph idx="1"/>
          </p:nvPr>
        </p:nvSpPr>
        <p:spPr/>
        <p:txBody>
          <a:bodyPr wrap="square"/>
          <a:lstStyle/>
          <a:p/>
          <a:p>
            <a:pPr>
              <a:lnSpc>
                <a:spcPct val="90000"/>
              </a:lnSpc>
              <a:spcBef>
                <a:spcPts val="300"/>
              </a:spcBef>
              <a:spcAft>
                <a:spcPts val="300"/>
              </a:spcAft>
              <a:defRPr sz="1100"/>
            </a:pPr>
            <a:r>
              <a:t>快速且廉價的數據生成 (Rapid and Inexpensive Data Generation)：AI代理者最大的吸引力之一在於其能夠快速且經濟地生成大量數據。與招募、管理和補償人類參與者相比，模擬AI代理者所需的成本和時間顯著降低。</a:t>
            </a:r>
          </a:p>
          <a:p>
            <a:pPr>
              <a:lnSpc>
                <a:spcPct val="90000"/>
              </a:lnSpc>
              <a:spcBef>
                <a:spcPts val="300"/>
              </a:spcBef>
              <a:spcAft>
                <a:spcPts val="300"/>
              </a:spcAft>
              <a:defRPr sz="1100"/>
            </a:pPr>
            <a:r>
              <a:t>大規模實驗的可行性 (Feasibility of Large-scale Experiments)：傳統人類研究中因預算和時間限制而難以實現的大規模實驗，透過AI代理者變得可行。研究者可以輕易地測試成千上萬個「參與者」，從而獲得更豐富的數據集。</a:t>
            </a:r>
          </a:p>
          <a:p>
            <a:pPr>
              <a:lnSpc>
                <a:spcPct val="90000"/>
              </a:lnSpc>
              <a:spcBef>
                <a:spcPts val="300"/>
              </a:spcBef>
              <a:spcAft>
                <a:spcPts val="300"/>
              </a:spcAft>
              <a:defRPr sz="1100"/>
            </a:pPr>
            <a:r>
              <a:t>高效率的實驗預測試 (Efficient Pilot Testing of Experiments)：AI代理者可用於新研究設計的預測試（Pilot-testing），以快速識別潛在問題和改進空間，無需耗費昂貴的人力資源。這有助於優化實驗流程，提高後續人類研究的成功率。</a:t>
            </a:r>
          </a:p>
          <a:p>
            <a:pPr>
              <a:lnSpc>
                <a:spcPct val="90000"/>
              </a:lnSpc>
              <a:spcBef>
                <a:spcPts val="300"/>
              </a:spcBef>
              <a:spcAft>
                <a:spcPts val="300"/>
              </a:spcAft>
              <a:defRPr sz="1100"/>
            </a:pPr>
            <a:r>
              <a:t>複製研究的便捷性 (Convenience for Replication Studies)：重複驗證（Replication）是科學研究的基石，但往往因資源限制而難以執行。AI代理者能夠快速、成本效益地複製先前的研究發現，有助於評估結果的穩健性和可靠性。</a:t>
            </a:r>
          </a:p>
          <a:p>
            <a:pPr>
              <a:lnSpc>
                <a:spcPct val="90000"/>
              </a:lnSpc>
              <a:spcBef>
                <a:spcPts val="300"/>
              </a:spcBef>
              <a:spcAft>
                <a:spcPts val="300"/>
              </a:spcAft>
              <a:defRPr sz="1100"/>
            </a:pPr>
            <a:r>
              <a:t>探索複雜參數空間 (Exploring Complex Parameter Spaces)：研究者可以利用AI代理者，在廣闊的實驗設計空間（Experimental Design Space）中系統性地探索不同刺激物和情境的影響。這有助於發現人類行為在多變條件下的普適性和特殊性。</a:t>
            </a:r>
          </a:p>
          <a:p>
            <a:pPr>
              <a:lnSpc>
                <a:spcPct val="90000"/>
              </a:lnSpc>
              <a:spcBef>
                <a:spcPts val="300"/>
              </a:spcBef>
              <a:spcAft>
                <a:spcPts val="300"/>
              </a:spcAft>
              <a:defRPr sz="1100"/>
            </a:pPr>
            <a:r>
              <a:t>減少研究偏見 (Reducing Researcher Bias)：透過標準化的AI模型進行模擬，可以潛在地減少由實驗者或參與者互動所引入的某些類型研究偏見。模型本身不具有主觀意願或社會期許，理論上能提供更客觀的數據。</a:t>
            </a:r>
          </a:p>
          <a:p>
            <a:pPr>
              <a:lnSpc>
                <a:spcPct val="90000"/>
              </a:lnSpc>
              <a:spcBef>
                <a:spcPts val="300"/>
              </a:spcBef>
              <a:spcAft>
                <a:spcPts val="300"/>
              </a:spcAft>
              <a:defRPr sz="1100"/>
            </a:pPr>
            <a:r>
              <a:t>靈活的實驗設計調整 (Flexible Adjustment of Experimental Designs)：在AI代理者環境中，調整實驗設計、變數或情境相對容易。這允許研究者快速迭代和優化其研究問題，從而加速科學發現的過程。</a:t>
            </a:r>
          </a:p>
          <a:p>
            <a:pPr>
              <a:lnSpc>
                <a:spcPct val="90000"/>
              </a:lnSpc>
              <a:spcBef>
                <a:spcPts val="300"/>
              </a:spcBef>
              <a:spcAft>
                <a:spcPts val="300"/>
              </a:spcAft>
              <a:defRPr sz="1100"/>
            </a:pPr>
            <a:r>
              <a:t>促進跨學科合作 (Facilitating Interdisciplinary Collaboration)：AI代理者作為一種通用工具，可以促進認知科學、計算機科學和統計學等不同學科之間的合作。這有助於將前沿的AI技術應用於解決複雜的認知問題。</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AI代理者的潛在優勢：擴展研究群體的多元性與廣度</a:t>
            </a:r>
          </a:p>
        </p:txBody>
      </p:sp>
      <p:sp>
        <p:nvSpPr>
          <p:cNvPr id="3" name="Content Placeholder 2"/>
          <p:cNvSpPr>
            <a:spLocks noGrp="1"/>
          </p:cNvSpPr>
          <p:nvPr>
            <p:ph idx="1"/>
          </p:nvPr>
        </p:nvSpPr>
        <p:spPr/>
        <p:txBody>
          <a:bodyPr wrap="square"/>
          <a:lstStyle/>
          <a:p/>
          <a:p>
            <a:pPr>
              <a:lnSpc>
                <a:spcPct val="90000"/>
              </a:lnSpc>
              <a:spcBef>
                <a:spcPts val="300"/>
              </a:spcBef>
              <a:spcAft>
                <a:spcPts val="300"/>
              </a:spcAft>
              <a:defRPr sz="1100"/>
            </a:pPr>
            <a:r>
              <a:t>克服人類樣本多樣性不足 (Overcoming Insufficient Human Sample Diversity)：傳統認知科學研究常因資源和地域限制，導致參與者樣本偏向於「怪異」群體 (WEIRD: Western, Educated, Industrialized, Rich, Democratic)。AI代理者有望突破這些限制，擴大研究群體的多元性。</a:t>
            </a:r>
          </a:p>
          <a:p>
            <a:pPr>
              <a:lnSpc>
                <a:spcPct val="90000"/>
              </a:lnSpc>
              <a:spcBef>
                <a:spcPts val="300"/>
              </a:spcBef>
              <a:spcAft>
                <a:spcPts val="300"/>
              </a:spcAft>
              <a:defRPr sz="1100"/>
            </a:pPr>
            <a:r>
              <a:t>模擬多樣化的人口統計群體 (Simulating Diverse Demographic Subgroups)：透過提示 (Prompting) 或微調 (Fine-tuning) 大型語言模型，AI代理者可以被配置來代表特定的人口統計學群體，例如不同年齡、性別、文化背景或社會經濟地位的個體。這使得研究者能夠探索跨群體的認知差異和普適性。</a:t>
            </a:r>
          </a:p>
          <a:p>
            <a:pPr>
              <a:lnSpc>
                <a:spcPct val="90000"/>
              </a:lnSpc>
              <a:spcBef>
                <a:spcPts val="300"/>
              </a:spcBef>
              <a:spcAft>
                <a:spcPts val="300"/>
              </a:spcAft>
              <a:defRPr sz="1100"/>
            </a:pPr>
            <a:r>
              <a:t>探索罕見或難以接觸的群體 (Exploring Rare or Hard-to-Reach Populations)：對於那些在現實世界中難以招募或研究的特殊群體（例如特定疾病患者、極端文化背景人士），AI代理者提供了一種潛在的模擬途徑。這可以擴展認知科學對多樣化人類經驗的理解。</a:t>
            </a:r>
          </a:p>
          <a:p>
            <a:pPr>
              <a:lnSpc>
                <a:spcPct val="90000"/>
              </a:lnSpc>
              <a:spcBef>
                <a:spcPts val="300"/>
              </a:spcBef>
              <a:spcAft>
                <a:spcPts val="300"/>
              </a:spcAft>
              <a:defRPr sz="1100"/>
            </a:pPr>
            <a:r>
              <a:t>增加跨文化研究的可行性 (Increasing Feasibility of Cross-cultural Research)：進行真正的跨文化比較研究需要龐大的資源和細緻的設計，而AI代理者提供了一種成本效益高且易於操作的方式，可以模擬不同文化背景下的認知反應，從而促進對文化影響認知的理解。</a:t>
            </a:r>
          </a:p>
          <a:p>
            <a:pPr>
              <a:lnSpc>
                <a:spcPct val="90000"/>
              </a:lnSpc>
              <a:spcBef>
                <a:spcPts val="300"/>
              </a:spcBef>
              <a:spcAft>
                <a:spcPts val="300"/>
              </a:spcAft>
              <a:defRPr sz="1100"/>
            </a:pPr>
            <a:r>
              <a:t>快速擴展樣本量 (Rapid Expansion of Sample Size)：AI代理者能夠以極高的效率生成大量模擬數據，從而有效地擴大研究的樣本量。更大的樣本量有助於提高統計檢定力，並在潛在人群中獲得更具代表性的結果，儘管其代表性仍受訓練數據限制。</a:t>
            </a:r>
          </a:p>
          <a:p>
            <a:pPr>
              <a:lnSpc>
                <a:spcPct val="90000"/>
              </a:lnSpc>
              <a:spcBef>
                <a:spcPts val="300"/>
              </a:spcBef>
              <a:spcAft>
                <a:spcPts val="300"/>
              </a:spcAft>
              <a:defRPr sz="1100"/>
            </a:pPr>
            <a:r>
              <a:t>降低招募和倫理審批複雜性 (Reducing Recruitment and Ethical Approval Complexities)：在某些情境下，使用AI代理者可以繞過與招募人類參與者相關的複雜物流和倫繁瑣的倫理審批程序。這使得研究者能夠更迅速地開展實驗，並探索更廣泛的研究問題。</a:t>
            </a:r>
          </a:p>
          <a:p>
            <a:pPr>
              <a:lnSpc>
                <a:spcPct val="90000"/>
              </a:lnSpc>
              <a:spcBef>
                <a:spcPts val="300"/>
              </a:spcBef>
              <a:spcAft>
                <a:spcPts val="300"/>
              </a:spcAft>
              <a:defRPr sz="1100"/>
            </a:pPr>
            <a:r>
              <a:t>在多種情境下泛化研究發現 (Generalizing Findings Across Diverse Contexts)：除了人口群體，AI代理者還能被用來模擬不同環境和文化情境下的行為。這有助於評估研究發現的泛化性 (Generalizability)，確保其不僅限於特定實驗室條件。</a:t>
            </a:r>
          </a:p>
          <a:p>
            <a:pPr>
              <a:lnSpc>
                <a:spcPct val="90000"/>
              </a:lnSpc>
              <a:spcBef>
                <a:spcPts val="300"/>
              </a:spcBef>
              <a:spcAft>
                <a:spcPts val="300"/>
              </a:spcAft>
              <a:defRPr sz="1100"/>
            </a:pPr>
            <a:r>
              <a:t>為人類研究提供初步洞察 (Providing Preliminary Insights for Human Research)：即使AI代理者不能完全取代人類，它們也能提供初步的洞察和假設，指導後續更精確的人類研究。這可以幫助研究者更有效地利用有限的人類參與者資源。</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AI代理者面臨的主要挑戰：數據偏差與代表性問題</a:t>
            </a:r>
          </a:p>
        </p:txBody>
      </p:sp>
      <p:sp>
        <p:nvSpPr>
          <p:cNvPr id="3" name="Content Placeholder 2"/>
          <p:cNvSpPr>
            <a:spLocks noGrp="1"/>
          </p:cNvSpPr>
          <p:nvPr>
            <p:ph idx="1"/>
          </p:nvPr>
        </p:nvSpPr>
        <p:spPr/>
        <p:txBody>
          <a:bodyPr wrap="square"/>
          <a:lstStyle/>
          <a:p/>
          <a:p>
            <a:pPr>
              <a:lnSpc>
                <a:spcPct val="90000"/>
              </a:lnSpc>
              <a:spcBef>
                <a:spcPts val="300"/>
              </a:spcBef>
              <a:spcAft>
                <a:spcPts val="300"/>
              </a:spcAft>
              <a:defRPr sz="1100"/>
            </a:pPr>
            <a:r>
              <a:t>訓練數據的內在偏差 (Inherent Biases in Training Data)：大型語言模型 (LLMs) 的行為和輸出，直接反映其訓練數據的構成。這些訓練數據通常來自於網際網路，不可避免地包含了現實世界中的社會、文化和歷史偏差，例如多數群體視角（Majority Viewpoints）的過度代表。</a:t>
            </a:r>
          </a:p>
          <a:p>
            <a:pPr>
              <a:lnSpc>
                <a:spcPct val="90000"/>
              </a:lnSpc>
              <a:spcBef>
                <a:spcPts val="300"/>
              </a:spcBef>
              <a:spcAft>
                <a:spcPts val="300"/>
              </a:spcAft>
              <a:defRPr sz="1100"/>
            </a:pPr>
            <a:r>
              <a:t>多數觀點的過度代表 (Over-representation of Majority Viewpoints)：LLMs的訓練數據往往由主導性的觀點和文化模式所構成，這導致模型傾向於重現這些主流觀點，而邊緣化或忽略少數群體的聲音和經驗。這會使得AI代理者的模擬結果無法真正代表全人類的多元性。</a:t>
            </a:r>
          </a:p>
          <a:p>
            <a:pPr>
              <a:lnSpc>
                <a:spcPct val="90000"/>
              </a:lnSpc>
              <a:spcBef>
                <a:spcPts val="300"/>
              </a:spcBef>
              <a:spcAft>
                <a:spcPts val="300"/>
              </a:spcAft>
              <a:defRPr sz="1100"/>
            </a:pPr>
            <a:r>
              <a:t>「泛化性幻覺」的風險 (Risk of "Illusions of Generalizability")：當AI代理者基於有偏差的數據生成結果時，研究者可能會錯誤地認為這些結果具有廣泛的泛化性 (Generalizability)，實際上它們只是反映了訓練數據中的偏頗。這創造了一種泛化性幻覺 (Illusion of Generalizability)。</a:t>
            </a:r>
          </a:p>
          <a:p>
            <a:pPr>
              <a:lnSpc>
                <a:spcPct val="90000"/>
              </a:lnSpc>
              <a:spcBef>
                <a:spcPts val="300"/>
              </a:spcBef>
              <a:spcAft>
                <a:spcPts val="300"/>
              </a:spcAft>
              <a:defRPr sz="1100"/>
            </a:pPr>
            <a:r>
              <a:t>難以捕捉真實世界的細微差異 (Difficulty in Capturing Real-world Nuances)：真實世界中的人類行為和認知深受社會、文化、歷史和個人經驗的影響，這些細微的差異在非結構化的訓練數據中難以被模型完全捕捉。AI代理者可能因此無法重現這些重要的情境依賴性。</a:t>
            </a:r>
          </a:p>
          <a:p>
            <a:pPr>
              <a:lnSpc>
                <a:spcPct val="90000"/>
              </a:lnSpc>
              <a:spcBef>
                <a:spcPts val="300"/>
              </a:spcBef>
              <a:spcAft>
                <a:spcPts val="300"/>
              </a:spcAft>
              <a:defRPr sz="1100"/>
            </a:pPr>
            <a:r>
              <a:t>強化現有不平等 (Reinforcing Existing Inequalities)：如果研究者未能意識到並主動糾正訓練數據的偏差，依賴AI代理者進行研究可能無意中強化了現有的社會不平等。這會導致科學知識的生產本身帶有偏見，進一步邊緣化弱勢群體。</a:t>
            </a:r>
          </a:p>
          <a:p>
            <a:pPr>
              <a:lnSpc>
                <a:spcPct val="90000"/>
              </a:lnSpc>
              <a:spcBef>
                <a:spcPts val="300"/>
              </a:spcBef>
              <a:spcAft>
                <a:spcPts val="300"/>
              </a:spcAft>
              <a:defRPr sz="1100"/>
            </a:pPr>
            <a:r>
              <a:t>人工模擬而非真實多元 (Artificial Simulation Rather Than True Diversity)：儘管AI代理者可以被提示來模擬不同人口統計學群體，但這種模擬本質上是基於數據中的模式，而非真實個體的經驗。這與真正從多元化人類參與者中獲取數據的本質有所不同。</a:t>
            </a:r>
          </a:p>
          <a:p>
            <a:pPr>
              <a:lnSpc>
                <a:spcPct val="90000"/>
              </a:lnSpc>
              <a:spcBef>
                <a:spcPts val="300"/>
              </a:spcBef>
              <a:spcAft>
                <a:spcPts val="300"/>
              </a:spcAft>
              <a:defRPr sz="1100"/>
            </a:pPr>
            <a:r>
              <a:t>數據來源的透明度問題 (Transparency Issues of Data Sources)：大多數LLMs的訓練數據集規模龐大且通常不對外公開，這使得研究者難以完全了解數據的來源、構成及其潛在偏差。缺乏透明度增加了評估AI代理者代表性的難度。</a:t>
            </a:r>
          </a:p>
          <a:p>
            <a:pPr>
              <a:lnSpc>
                <a:spcPct val="90000"/>
              </a:lnSpc>
              <a:spcBef>
                <a:spcPts val="300"/>
              </a:spcBef>
              <a:spcAft>
                <a:spcPts val="300"/>
              </a:spcAft>
              <a:defRPr sz="1100"/>
            </a:pPr>
            <a:r>
              <a:t>對研究結論的影響 (Impact on Research Conclusions)：基於有偏差AI代理者得出的研究結論，可能無法反映人類認知的真實複雜性，甚至可能導致錯誤的政策建議或干預措施。這對於認知科學的科學嚴謹性和社會影響力構成嚴峻挑戰。</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AI代理者面臨的主要挑戰：缺乏人類行為的真實變異性</a:t>
            </a:r>
          </a:p>
        </p:txBody>
      </p:sp>
      <p:sp>
        <p:nvSpPr>
          <p:cNvPr id="3" name="Content Placeholder 2"/>
          <p:cNvSpPr>
            <a:spLocks noGrp="1"/>
          </p:cNvSpPr>
          <p:nvPr>
            <p:ph idx="1"/>
          </p:nvPr>
        </p:nvSpPr>
        <p:spPr/>
        <p:txBody>
          <a:bodyPr wrap="square"/>
          <a:lstStyle/>
          <a:p/>
          <a:p>
            <a:pPr>
              <a:lnSpc>
                <a:spcPct val="90000"/>
              </a:lnSpc>
              <a:spcBef>
                <a:spcPts val="300"/>
              </a:spcBef>
              <a:spcAft>
                <a:spcPts val="300"/>
              </a:spcAft>
              <a:defRPr sz="1100"/>
            </a:pPr>
            <a:r>
              <a:t>人類響應的獨特變異性 (Unique Variability of Human Responses)：人類個體在認知和行為上的差異是普遍存在的，這種變異性 (Variability) 是人類樣本的固有特徵，也是認知科學理解個體差異和普適性規基礎。AI代理者在重現這種真實變異性方面存在顯著挑戰。</a:t>
            </a:r>
          </a:p>
          <a:p>
            <a:pPr>
              <a:lnSpc>
                <a:spcPct val="90000"/>
              </a:lnSpc>
              <a:spcBef>
                <a:spcPts val="300"/>
              </a:spcBef>
              <a:spcAft>
                <a:spcPts val="300"/>
              </a:spcAft>
              <a:defRPr sz="1100"/>
            </a:pPr>
            <a:r>
              <a:t>LLMs的模式識別與復述 (LLMs' Pattern Recognition and Recitation)：大型語言模型 (LLMs) 的運作方式是識別訓練數據中的統計模式並生成基於這些模式的內容。它們擅長於模仿普遍的、頻繁出現的模式，但在產生或重現罕見、異常或個人化的響應方面則較弱。</a:t>
            </a:r>
          </a:p>
          <a:p>
            <a:pPr>
              <a:lnSpc>
                <a:spcPct val="90000"/>
              </a:lnSpc>
              <a:spcBef>
                <a:spcPts val="300"/>
              </a:spcBef>
              <a:spcAft>
                <a:spcPts val="300"/>
              </a:spcAft>
              <a:defRPr sz="1100"/>
            </a:pPr>
            <a:r>
              <a:t>缺乏內在隨機性與異質性 (Lack of Intrinsic Randomness and Heterogeneity)：與真實人類的反應不同，LLMs的輸出在給定相同輸入條件下，傾向於表現出較低的內在隨機性和異質性。這使得AI代理者的行為顯得過於一致，無法反映人類行為的自然波動和個體差異。</a:t>
            </a:r>
          </a:p>
          <a:p>
            <a:pPr>
              <a:lnSpc>
                <a:spcPct val="90000"/>
              </a:lnSpc>
              <a:spcBef>
                <a:spcPts val="300"/>
              </a:spcBef>
              <a:spcAft>
                <a:spcPts val="300"/>
              </a:spcAft>
              <a:defRPr sz="1100"/>
            </a:pPr>
            <a:r>
              <a:t>影響對結果穩健性的評估 (Impact on Assessing Result Robustness)：認知科學研究常常透過觀察不同個體在相似刺激下的反應變異性，來評估研究結果的穩健性。如果AI代理者無法提供足夠的變異性，那麼其模擬結果對於評估人類認知過程的廣泛適用性可能具有誤導性。</a:t>
            </a:r>
          </a:p>
          <a:p>
            <a:pPr>
              <a:lnSpc>
                <a:spcPct val="90000"/>
              </a:lnSpc>
              <a:spcBef>
                <a:spcPts val="300"/>
              </a:spcBef>
              <a:spcAft>
                <a:spcPts val="300"/>
              </a:spcAft>
              <a:defRPr sz="1100"/>
            </a:pPr>
            <a:r>
              <a:t>無法捕捉真實世界的「異常值」 (Inability to Capture Real-world "Outliers")：真實人類行為中常存在一些偏離主流模式的「異常值」或創新反應，它們可能是新興認知現象或個體獨特思維方式的體現。AI代理者由於其模式驅動的本質，難以可靠地生成或模擬這些非典型響應。</a:t>
            </a:r>
          </a:p>
          <a:p>
            <a:pPr>
              <a:lnSpc>
                <a:spcPct val="90000"/>
              </a:lnSpc>
              <a:spcBef>
                <a:spcPts val="300"/>
              </a:spcBef>
              <a:spcAft>
                <a:spcPts val="300"/>
              </a:spcAft>
              <a:defRPr sz="1100"/>
            </a:pPr>
            <a:r>
              <a:t>「探討性廣度幻覺」的風險 (Risk of "Illusion of Exploratory Breadth")：當研究者在缺乏真實變異性的AI代理者上進行實驗時，可能會產生一種探討性廣度幻覺 (Illusion of exploratory breadth)。他們會錯誤地認為已探索了所有可能的假設空間，但實際上只是在一個狹隘、同質的AI工具可測試的範圍內操作。</a:t>
            </a:r>
          </a:p>
          <a:p>
            <a:pPr>
              <a:lnSpc>
                <a:spcPct val="90000"/>
              </a:lnSpc>
              <a:spcBef>
                <a:spcPts val="300"/>
              </a:spcBef>
              <a:spcAft>
                <a:spcPts val="300"/>
              </a:spcAft>
              <a:defRPr sz="1100"/>
            </a:pPr>
            <a:r>
              <a:t>模型輸出穩定性問題 (Model Output Stability Issues)：儘管LLMs在某些任務上表現出高一致性，但在某些情況下，它們也可能因未知原因產生不穩定的結果。這種不穩定性與其缺乏真實變異性是不同的問題，但兩者都增加了對AI代理者作為可靠研究對象的疑慮。</a:t>
            </a:r>
          </a:p>
          <a:p>
            <a:pPr>
              <a:lnSpc>
                <a:spcPct val="90000"/>
              </a:lnSpc>
              <a:spcBef>
                <a:spcPts val="300"/>
              </a:spcBef>
              <a:spcAft>
                <a:spcPts val="300"/>
              </a:spcAft>
              <a:defRPr sz="1100"/>
            </a:pPr>
            <a:r>
              <a:t>對發現新知識的限制 (Limitations on Discovering New Knowledge)：真正的科學發現往往來自於對變異性和異常現象的深入探討。如果AI代理者無法模擬或產生這種變異性，它們在生成真正新穎或突破性知識方面的能力將受到嚴重限制。</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AI代理者面臨的主要挑戰：模型解釋性與穩定性</a:t>
            </a:r>
          </a:p>
        </p:txBody>
      </p:sp>
      <p:sp>
        <p:nvSpPr>
          <p:cNvPr id="3" name="Content Placeholder 2"/>
          <p:cNvSpPr>
            <a:spLocks noGrp="1"/>
          </p:cNvSpPr>
          <p:nvPr>
            <p:ph idx="1"/>
          </p:nvPr>
        </p:nvSpPr>
        <p:spPr/>
        <p:txBody>
          <a:bodyPr wrap="square"/>
          <a:lstStyle/>
          <a:p/>
          <a:p>
            <a:pPr>
              <a:lnSpc>
                <a:spcPct val="90000"/>
              </a:lnSpc>
              <a:spcBef>
                <a:spcPts val="300"/>
              </a:spcBef>
              <a:spcAft>
                <a:spcPts val="300"/>
              </a:spcAft>
              <a:defRPr sz="1100"/>
            </a:pPr>
            <a:r>
              <a:t>黑箱模型性質 (Black Box Nature of Models)：大型語言模型 (LLMs) 複雜的內部運作機制，使其本質上是一個「黑箱模型 (Black Box Model)」，難以解釋。研究者往往只能觀察其輸入和輸出，而無法理解模型是如何從輸入推導出特定輸出的。</a:t>
            </a:r>
          </a:p>
          <a:p>
            <a:pPr>
              <a:lnSpc>
                <a:spcPct val="90000"/>
              </a:lnSpc>
              <a:spcBef>
                <a:spcPts val="300"/>
              </a:spcBef>
              <a:spcAft>
                <a:spcPts val="300"/>
              </a:spcAft>
              <a:defRPr sz="1100"/>
            </a:pPr>
            <a:r>
              <a:t>結果難以解釋 (Difficult to Interpret Results)：當AI代理者產生某種模擬行為或響應時，很難確定其背後的「認知」過程或推理路徑。這種缺乏解釋性的問題使得從AI代理者得出的發現難以轉化為對人類認知機制有意義的理解。</a:t>
            </a:r>
          </a:p>
          <a:p>
            <a:pPr>
              <a:lnSpc>
                <a:spcPct val="90000"/>
              </a:lnSpc>
              <a:spcBef>
                <a:spcPts val="300"/>
              </a:spcBef>
              <a:spcAft>
                <a:spcPts val="300"/>
              </a:spcAft>
              <a:defRPr sz="1100"/>
            </a:pPr>
            <a:r>
              <a:t>無法深入理解其「動機」或「原因」 (Inability to Understand "Motivations" or "Reasons")：人類研究的核心目標是理解行為背後的動機、信念和推理過程。然而，AI代理者的「行為」是基於統計模式的生成，而非基於真正的意圖或對世界的理解，這使得我們無法探究其「認知」的深層原因。</a:t>
            </a:r>
          </a:p>
          <a:p>
            <a:pPr>
              <a:lnSpc>
                <a:spcPct val="90000"/>
              </a:lnSpc>
              <a:spcBef>
                <a:spcPts val="300"/>
              </a:spcBef>
              <a:spcAft>
                <a:spcPts val="300"/>
              </a:spcAft>
              <a:defRPr sz="1100"/>
            </a:pPr>
            <a:r>
              <a:t>輸出結果的不穩定性 (Unstable Results)：論文指出，AI代理者有時會因未知原因產生不穩定的結果。即使輸入相同，模型的輸出也可能有所不同，這嚴重影響了研究結果的可靠性和可重複性，使得科學結論難以建立。</a:t>
            </a:r>
          </a:p>
          <a:p>
            <a:pPr>
              <a:lnSpc>
                <a:spcPct val="90000"/>
              </a:lnSpc>
              <a:spcBef>
                <a:spcPts val="300"/>
              </a:spcBef>
              <a:spcAft>
                <a:spcPts val="300"/>
              </a:spcAft>
              <a:defRPr sz="1100"/>
            </a:pPr>
            <a:r>
              <a:t>影響研究結果的可信度 (Impact on Credibility of Research Findings)：如果一個研究工具的輸出不穩定且難以解釋，那麼基於該工具得出的所有研究發現都將面臨可信度的挑戰。這與認知科學追求嚴謹性和可驗證性的目標背道而馳。</a:t>
            </a:r>
          </a:p>
          <a:p>
            <a:pPr>
              <a:lnSpc>
                <a:spcPct val="90000"/>
              </a:lnSpc>
              <a:spcBef>
                <a:spcPts val="300"/>
              </a:spcBef>
              <a:spcAft>
                <a:spcPts val="300"/>
              </a:spcAft>
              <a:defRPr sz="1100"/>
            </a:pPr>
            <a:r>
              <a:t>難以診斷模型錯誤 (Difficult to Diagnose Model Errors)：當AI代理者產生非預期的或錯誤的響應時，由於其黑箱特性，研究者很難診斷錯誤發生的原因。這使得改進模型或修正其偏差變得極具挑戰性。</a:t>
            </a:r>
          </a:p>
          <a:p>
            <a:pPr>
              <a:lnSpc>
                <a:spcPct val="90000"/>
              </a:lnSpc>
              <a:spcBef>
                <a:spcPts val="300"/>
              </a:spcBef>
              <a:spcAft>
                <a:spcPts val="300"/>
              </a:spcAft>
              <a:defRPr sz="1100"/>
            </a:pPr>
            <a:r>
              <a:t>對理論建構的阻礙 (Obstacle to Theory Building)：認知科學的進步依賴於理論的建構和驗證。如果我們無法解釋AI代理者的行為，就難以將其模擬結果整合到現有的認知理論框架中，也難以利用其結果來發展新的理論。</a:t>
            </a:r>
          </a:p>
          <a:p>
            <a:pPr>
              <a:lnSpc>
                <a:spcPct val="90000"/>
              </a:lnSpc>
              <a:spcBef>
                <a:spcPts val="300"/>
              </a:spcBef>
              <a:spcAft>
                <a:spcPts val="300"/>
              </a:spcAft>
              <a:defRPr sz="1100"/>
            </a:pPr>
            <a:r>
              <a:t>需要技術與社會層面的解決方案 (Requires Both Social and Technological Solutions)：作者強調，AI代理者暴露了當前研究範式的基礎性局限，這些問題不僅需要技術上的改進，更需要社會和哲學層面的反思和解決，以確保科學研究的嚴謹性。</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AI代理者面臨的主要挑戰：對人類認知的模擬局限</a:t>
            </a:r>
          </a:p>
        </p:txBody>
      </p:sp>
      <p:sp>
        <p:nvSpPr>
          <p:cNvPr id="3" name="Content Placeholder 2"/>
          <p:cNvSpPr>
            <a:spLocks noGrp="1"/>
          </p:cNvSpPr>
          <p:nvPr>
            <p:ph idx="1"/>
          </p:nvPr>
        </p:nvSpPr>
        <p:spPr/>
        <p:txBody>
          <a:bodyPr wrap="square"/>
          <a:lstStyle/>
          <a:p/>
          <a:p>
            <a:pPr>
              <a:lnSpc>
                <a:spcPct val="90000"/>
              </a:lnSpc>
              <a:spcBef>
                <a:spcPts val="300"/>
              </a:spcBef>
              <a:spcAft>
                <a:spcPts val="300"/>
              </a:spcAft>
              <a:defRPr sz="1100"/>
            </a:pPr>
            <a:r>
              <a:t>缺乏真正意義上的世界知識 (Lack of True World Knowledge)：儘管大型語言模型 (LLMs) 在語言模仿方面表現出色，但許多學者對它們是否具備人類般的廣泛世界知識 (Human-like Generalizable World Knowledge) 抱持懷疑態度。LLMs的「知識」本質上是基於訓練數據中的詞彙關聯和模式，而非真實世界的體驗。</a:t>
            </a:r>
          </a:p>
          <a:p>
            <a:pPr>
              <a:lnSpc>
                <a:spcPct val="90000"/>
              </a:lnSpc>
              <a:spcBef>
                <a:spcPts val="300"/>
              </a:spcBef>
              <a:spcAft>
                <a:spcPts val="300"/>
              </a:spcAft>
              <a:defRPr sz="1100"/>
            </a:pPr>
            <a:r>
              <a:t>不具備常識推理能力 (Absence of Common-sense Reasoning)：人類的認知活動離不開常識推理 (Common-sense Reasoning)，這是基於日常經驗和對世界基本規則的理解。LLMs雖然能模擬一些推理過程，但其常識推理能力仍被認為是有限的，無法真正理解情境和因果關係。</a:t>
            </a:r>
          </a:p>
          <a:p>
            <a:pPr>
              <a:lnSpc>
                <a:spcPct val="90000"/>
              </a:lnSpc>
              <a:spcBef>
                <a:spcPts val="300"/>
              </a:spcBef>
              <a:spcAft>
                <a:spcPts val="300"/>
              </a:spcAft>
              <a:defRPr sz="1100"/>
            </a:pPr>
            <a:r>
              <a:t>缺乏真正的理解 (Lack of True Understanding)：批評者認為，LLMs的語言處理能力只是表面的模仿，它們並不具備真正的理解 (Understanding)。這意味著它們無法像人類一樣對概念、語義或情境有深層次的把握，這對模擬複雜認知行為構成根本性障礙。</a:t>
            </a:r>
          </a:p>
          <a:p>
            <a:pPr>
              <a:lnSpc>
                <a:spcPct val="90000"/>
              </a:lnSpc>
              <a:spcBef>
                <a:spcPts val="300"/>
              </a:spcBef>
              <a:spcAft>
                <a:spcPts val="300"/>
              </a:spcAft>
              <a:defRPr sz="1100"/>
            </a:pPr>
            <a:r>
              <a:t>無法進行具身認知 (Inability for Embodied Cognition)：人類的認知深受其具身性 (Embodied Cognition) 影響，即身體與環境的互動經驗塑造了我們的思維方式。AI代理者通常是去情境化、工程化、匿名化、去身體化 (Decontextualized, Engineered, Anonymized, Disembodied, DEAD) 的，無法擁有物理身體和真實世界的互動經驗。</a:t>
            </a:r>
          </a:p>
          <a:p>
            <a:pPr>
              <a:lnSpc>
                <a:spcPct val="90000"/>
              </a:lnSpc>
              <a:spcBef>
                <a:spcPts val="300"/>
              </a:spcBef>
              <a:spcAft>
                <a:spcPts val="300"/>
              </a:spcAft>
              <a:defRPr sz="1100"/>
            </a:pPr>
            <a:r>
              <a:t>情緒與情感體驗的缺失 (Absence of Emotions and Affective Experience)：情感在人類決策、道德判斷和社會互動中扮演關鍵角色。AI代理者無法擁有或體驗真正的情緒和情感，這使得它們在模擬涉及情感反應的認知任務時，其真實性受到嚴重質疑。</a:t>
            </a:r>
          </a:p>
          <a:p>
            <a:pPr>
              <a:lnSpc>
                <a:spcPct val="90000"/>
              </a:lnSpc>
              <a:spcBef>
                <a:spcPts val="300"/>
              </a:spcBef>
              <a:spcAft>
                <a:spcPts val="300"/>
              </a:spcAft>
              <a:defRPr sz="1100"/>
            </a:pPr>
            <a:r>
              <a:t>倫理判斷和道德推理的膚淺性 (Superficiality of Ethical and Moral Reasoning)：雖然LLMs可以根據訓練數據中的模式生成看似合理的道德判斷，但這些判斷缺乏基於個人價值觀、共情能力和深思熟慮的倫理推理。它們的「道德」表現可能只是對主流規範的統計性重現。</a:t>
            </a:r>
          </a:p>
          <a:p>
            <a:pPr>
              <a:lnSpc>
                <a:spcPct val="90000"/>
              </a:lnSpc>
              <a:spcBef>
                <a:spcPts val="300"/>
              </a:spcBef>
              <a:spcAft>
                <a:spcPts val="300"/>
              </a:spcAft>
              <a:defRPr sz="1100"/>
            </a:pPr>
            <a:r>
              <a:t>缺乏自我意識與主觀經驗 (Lack of Self-awareness and Subjective Experience)：人類認知活動的獨特之處在於其伴隨的自我意識 (Self-awareness) 和主觀經驗 (Subjective Experience)。AI代理者不具備這些意識層面的特徵，這使得它們在模擬需要主觀判斷和內省的認知過程時顯得不足。</a:t>
            </a:r>
          </a:p>
          <a:p>
            <a:pPr>
              <a:lnSpc>
                <a:spcPct val="90000"/>
              </a:lnSpc>
              <a:spcBef>
                <a:spcPts val="300"/>
              </a:spcBef>
              <a:spcAft>
                <a:spcPts val="300"/>
              </a:spcAft>
              <a:defRPr sz="1100"/>
            </a:pPr>
            <a:r>
              <a:t>模擬人類認知的計算難題 (Computationally Intractable to Simulate Human Cognition)：一些學者認為，在矽基（in silico）環境中模擬完整的人類認知本質上是計算上難以處理的 (Computationally Intractable)。他們預言，任何嘗試模擬人類認知的AI代理者研究都將產生「扭曲和貧乏的觀點」。</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泛化性幻覺：AI代理者研究的核心風險</a:t>
            </a:r>
          </a:p>
        </p:txBody>
      </p:sp>
      <p:sp>
        <p:nvSpPr>
          <p:cNvPr id="3" name="Content Placeholder 2"/>
          <p:cNvSpPr>
            <a:spLocks noGrp="1"/>
          </p:cNvSpPr>
          <p:nvPr>
            <p:ph idx="1"/>
          </p:nvPr>
        </p:nvSpPr>
        <p:spPr/>
        <p:txBody>
          <a:bodyPr wrap="square"/>
          <a:lstStyle/>
          <a:p/>
          <a:p>
            <a:pPr>
              <a:lnSpc>
                <a:spcPct val="90000"/>
              </a:lnSpc>
              <a:spcBef>
                <a:spcPts val="300"/>
              </a:spcBef>
              <a:spcAft>
                <a:spcPts val="300"/>
              </a:spcAft>
              <a:defRPr sz="1100"/>
            </a:pPr>
            <a:r>
              <a:t>泛化性幻覺的定義 (Definition of Illusion of Generalizability)：泛化性幻覺 (Illusion of Generalizability) 是指研究者錯誤地相信他們的研究發現，在跨越不同人群和情境時，比實際情況更具泛化性 (Generalizability)。這種幻覺會導致對科學結論的過度自信。</a:t>
            </a:r>
          </a:p>
          <a:p>
            <a:pPr>
              <a:lnSpc>
                <a:spcPct val="90000"/>
              </a:lnSpc>
              <a:spcBef>
                <a:spcPts val="300"/>
              </a:spcBef>
              <a:spcAft>
                <a:spcPts val="300"/>
              </a:spcAft>
              <a:defRPr sz="1100"/>
            </a:pPr>
            <a:r>
              <a:t>AI代理者如何製造幻覺 (How AI Surrogates Create the Illusion)：AI代理者被視為能夠廉價、快速地擴大研究範圍和多樣性。然而，它們的固有局限性，如數據偏差和缺乏真實變異性，意味著這種「擴展」往往是表象的，而其結果也僅限於其模擬的狹隘範圍。</a:t>
            </a:r>
          </a:p>
          <a:p>
            <a:pPr>
              <a:lnSpc>
                <a:spcPct val="90000"/>
              </a:lnSpc>
              <a:spcBef>
                <a:spcPts val="300"/>
              </a:spcBef>
              <a:spcAft>
                <a:spcPts val="300"/>
              </a:spcAft>
              <a:defRPr sz="1100"/>
            </a:pPr>
            <a:r>
              <a:t>強化現有研究範式的問題 (Entrenching Existing Paradigm Problems)：作者警告，過度投資於AI代理者，反而可能鞏固認知科學中現有的泛化性問題。透過提供一種看似簡單的解決方案，AI代理者讓研究者誤以為這些問題已被克服，而未能從根本上解決。</a:t>
            </a:r>
          </a:p>
          <a:p>
            <a:pPr>
              <a:lnSpc>
                <a:spcPct val="90000"/>
              </a:lnSpc>
              <a:spcBef>
                <a:spcPts val="300"/>
              </a:spcBef>
              <a:spcAft>
                <a:spcPts val="300"/>
              </a:spcAft>
              <a:defRPr sz="1100"/>
            </a:pPr>
            <a:r>
              <a:t>忽視底層的結構性問題 (Ignoring Underlying Structural Issues)：泛化性問題不僅是技術層面的挑戰，更是研究設計、樣本採集和理論構建的結構性問題。AI代理者作為技術工具，無法獨自解決這些深層次的、社會技術性的問題。</a:t>
            </a:r>
          </a:p>
          <a:p>
            <a:pPr>
              <a:lnSpc>
                <a:spcPct val="90000"/>
              </a:lnSpc>
              <a:spcBef>
                <a:spcPts val="300"/>
              </a:spcBef>
              <a:spcAft>
                <a:spcPts val="300"/>
              </a:spcAft>
              <a:defRPr sz="1100"/>
            </a:pPr>
            <a:r>
              <a:t>對研究結果誤讀的風險 (Risk of Misinterpreting Research Results)：當AI代理者生成看似普遍的結果時，研究者可能會在不知不覺中將這些結果推廣到其模擬能力之外的人群和情境。這種誤讀可能導致不準確的科學聲明或政策建議。</a:t>
            </a:r>
          </a:p>
          <a:p>
            <a:pPr>
              <a:lnSpc>
                <a:spcPct val="90000"/>
              </a:lnSpc>
              <a:spcBef>
                <a:spcPts val="300"/>
              </a:spcBef>
              <a:spcAft>
                <a:spcPts val="300"/>
              </a:spcAft>
              <a:defRPr sz="1100"/>
            </a:pPr>
            <a:r>
              <a:t>「探索性廣度幻覺」的並存 (Co-occurrence of Illusion of Exploratory Breadth)：與泛化性幻覺緊密相關的是探索性廣度幻覺 (Illusion of exploratory breadth)。研究者可能會認為他們已經探索了所有可檢驗的假設空間，但實際上只是在AI工具能夠操作的狹窄範圍內進行。</a:t>
            </a:r>
          </a:p>
          <a:p>
            <a:pPr>
              <a:lnSpc>
                <a:spcPct val="90000"/>
              </a:lnSpc>
              <a:spcBef>
                <a:spcPts val="300"/>
              </a:spcBef>
              <a:spcAft>
                <a:spcPts val="300"/>
              </a:spcAft>
              <a:defRPr sz="1100"/>
            </a:pPr>
            <a:r>
              <a:t>阻礙真正進步 (Hindering Genuine Progress)：如果認知科學被這種幻覺所迷惑，將資源投入到看似解決問題但實則加劇問題的方法上，那麼它將錯失機會去發展真正能夠提升泛化性的包容性研究實踐和方法。</a:t>
            </a:r>
          </a:p>
          <a:p>
            <a:pPr>
              <a:lnSpc>
                <a:spcPct val="90000"/>
              </a:lnSpc>
              <a:spcBef>
                <a:spcPts val="300"/>
              </a:spcBef>
              <a:spcAft>
                <a:spcPts val="300"/>
              </a:spcAft>
              <a:defRPr sz="1100"/>
            </a:pPr>
            <a:r>
              <a:t>需要根本性的範式轉變 (Requires Fundamental Paradigm Shift)：要克服泛化性幻覺，認知科學需要的不僅僅是新工具，更需要對其研究範式進行根本性的反思和轉變，包括更包容的數據採集、更批判的理論檢視以及對自身局限性的深刻認識。</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探討性廣度幻覺：實驗設計空間的盲區</a:t>
            </a:r>
          </a:p>
        </p:txBody>
      </p:sp>
      <p:sp>
        <p:nvSpPr>
          <p:cNvPr id="3" name="Content Placeholder 2"/>
          <p:cNvSpPr>
            <a:spLocks noGrp="1"/>
          </p:cNvSpPr>
          <p:nvPr>
            <p:ph idx="1"/>
          </p:nvPr>
        </p:nvSpPr>
        <p:spPr/>
        <p:txBody>
          <a:bodyPr wrap="square"/>
          <a:lstStyle/>
          <a:p/>
          <a:p>
            <a:pPr>
              <a:lnSpc>
                <a:spcPct val="90000"/>
              </a:lnSpc>
              <a:spcBef>
                <a:spcPts val="300"/>
              </a:spcBef>
              <a:spcAft>
                <a:spcPts val="300"/>
              </a:spcAft>
              <a:defRPr sz="1100"/>
            </a:pPr>
            <a:r>
              <a:t>探討性廣度幻覺的定義 (Definition of Illusion of Exploratory Breadth)：探討性廣度幻覺 (Illusion of exploratory breadth) 是一種現象，發生在研究者錯誤地相信他們已經探索了所有可測試的假設空間，但實際上他們只是在一個狹窄的、能夠使用AI工具 (AI Tools) 進行測試的假設空間內操作。</a:t>
            </a:r>
          </a:p>
          <a:p>
            <a:pPr>
              <a:lnSpc>
                <a:spcPct val="90000"/>
              </a:lnSpc>
              <a:spcBef>
                <a:spcPts val="300"/>
              </a:spcBef>
              <a:spcAft>
                <a:spcPts val="300"/>
              </a:spcAft>
              <a:defRPr sz="1100"/>
            </a:pPr>
            <a:r>
              <a:t>單一文化知識的後果 (Consequence of Monocultures of Knowing)：這種幻覺源於一種「知識的單一文化 (monocultures of knowing)」，即研究社群過於依賴特定的研究工具、方法或思維模式。當AI代理者成為主流工具時，它會形塑研究者能夠提出和檢驗的問題類型。</a:t>
            </a:r>
          </a:p>
          <a:p>
            <a:pPr>
              <a:lnSpc>
                <a:spcPct val="90000"/>
              </a:lnSpc>
              <a:spcBef>
                <a:spcPts val="300"/>
              </a:spcBef>
              <a:spcAft>
                <a:spcPts val="300"/>
              </a:spcAft>
              <a:defRPr sz="1100"/>
            </a:pPr>
            <a:r>
              <a:t>AI代理者對假設空間的限制 (AI Surrogates Limiting Hypothesis Space)：雖然AI代理者被認為可以「快速且廉價地擴展對廣闊實驗設計空間的探索」，但其固有的偏見和局限性意味著它們實際上只能在預設的、被訓練數據所定義的範疇內進行探索。超出此範疇的真正新穎假設可能被忽略。</a:t>
            </a:r>
          </a:p>
          <a:p>
            <a:pPr>
              <a:lnSpc>
                <a:spcPct val="90000"/>
              </a:lnSpc>
              <a:spcBef>
                <a:spcPts val="300"/>
              </a:spcBef>
              <a:spcAft>
                <a:spcPts val="300"/>
              </a:spcAft>
              <a:defRPr sz="1100"/>
            </a:pPr>
            <a:r>
              <a:t>忽略非AI可模擬的現象 (Ignoring Non-AI-Simulable Phenomena)：人類認知和行為的某些維度，特別是那些涉及具身性 (Embodiment)、情感 (Emotion)、主觀經驗 (Subjective Experience) 和罕見變異 (Rare Variability) 的方面，可能難以或無法透過AI代理者有效模擬。這些重要的研究領域可能因此被無意中排除。</a:t>
            </a:r>
          </a:p>
          <a:p>
            <a:pPr>
              <a:lnSpc>
                <a:spcPct val="90000"/>
              </a:lnSpc>
              <a:spcBef>
                <a:spcPts val="300"/>
              </a:spcBef>
              <a:spcAft>
                <a:spcPts val="300"/>
              </a:spcAft>
              <a:defRPr sz="1100"/>
            </a:pPr>
            <a:r>
              <a:t>過度自信於已探索的範圍 (Overconfidence in Explored Range)：研究者可能會因AI代理者能夠快速生成大量數據而產生一種虛假的滿足感，認為他們已經全面考察了研究問題。但這種數據的廣度並不等同於概念或理論探索的深度和全面性。</a:t>
            </a:r>
          </a:p>
          <a:p>
            <a:pPr>
              <a:lnSpc>
                <a:spcPct val="90000"/>
              </a:lnSpc>
              <a:spcBef>
                <a:spcPts val="300"/>
              </a:spcBef>
              <a:spcAft>
                <a:spcPts val="300"/>
              </a:spcAft>
              <a:defRPr sz="1100"/>
            </a:pPr>
            <a:r>
              <a:t>阻礙多元視角的發展 (Hindering Development of Diverse Perspectives)：如果研究社群過度依賴AI代理者，它可能會抑制對多元研究方法和視角的探索，這些方法或許更能捕捉AI代理者無法觸及的認知複雜性。這會導致認知科學研究方法論的單一化。</a:t>
            </a:r>
          </a:p>
          <a:p>
            <a:pPr>
              <a:lnSpc>
                <a:spcPct val="90000"/>
              </a:lnSpc>
              <a:spcBef>
                <a:spcPts val="300"/>
              </a:spcBef>
              <a:spcAft>
                <a:spcPts val="300"/>
              </a:spcAft>
              <a:defRPr sz="1100"/>
            </a:pPr>
            <a:r>
              <a:t>技術可行性決定研究問題 (Technological Feasibility Dictates Research Questions)：在探討性廣度幻覺下，研究者可能會傾向於提出那些AI代理者容易回答的問題，而非那些對理解人類認知最重要、最具有挑戰性的問題。這將導致研究議程被技術工具所驅動，而非由科學好奇心和社會需求驅動。</a:t>
            </a:r>
          </a:p>
          <a:p>
            <a:pPr>
              <a:lnSpc>
                <a:spcPct val="90000"/>
              </a:lnSpc>
              <a:spcBef>
                <a:spcPts val="300"/>
              </a:spcBef>
              <a:spcAft>
                <a:spcPts val="300"/>
              </a:spcAft>
              <a:defRPr sz="1100"/>
            </a:pPr>
            <a:r>
              <a:t>脫離真實世界複雜性 (Detachment from Real-world Complexity)：AI代理者在去情境化、工程化、匿名化、去身體化 (DEAD) 的環境中運行，這使得它們的模擬結果可能脫離真實世界中認知行為的複雜性和豐富性。這種脫離會限制科學發現的實際應用價值。</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研究結論：AI代理者作為技術解決方案的局限性</a:t>
            </a:r>
          </a:p>
        </p:txBody>
      </p:sp>
      <p:sp>
        <p:nvSpPr>
          <p:cNvPr id="3" name="Content Placeholder 2"/>
          <p:cNvSpPr>
            <a:spLocks noGrp="1"/>
          </p:cNvSpPr>
          <p:nvPr>
            <p:ph idx="1"/>
          </p:nvPr>
        </p:nvSpPr>
        <p:spPr/>
        <p:txBody>
          <a:bodyPr wrap="square"/>
          <a:lstStyle/>
          <a:p/>
          <a:p>
            <a:pPr>
              <a:lnSpc>
                <a:spcPct val="90000"/>
              </a:lnSpc>
              <a:spcBef>
                <a:spcPts val="300"/>
              </a:spcBef>
              <a:spcAft>
                <a:spcPts val="300"/>
              </a:spcAft>
              <a:defRPr sz="1100"/>
            </a:pPr>
            <a:r>
              <a:t>無法根本性解決泛化性問題 (Inability to Fundamentally Solve Generalizability Issues)：本文核心論點指出，AI代理者 (AI Surrogates) 無法真正提升認知科學的泛化性 (Generalizability)。它們的設計和運作方式內在地排除了某些人群和研究主題，使其在根本上無法實現普遍性。</a:t>
            </a:r>
          </a:p>
          <a:p>
            <a:pPr>
              <a:lnSpc>
                <a:spcPct val="90000"/>
              </a:lnSpc>
              <a:spcBef>
                <a:spcPts val="300"/>
              </a:spcBef>
              <a:spcAft>
                <a:spcPts val="300"/>
              </a:spcAft>
              <a:defRPr sz="1100"/>
            </a:pPr>
            <a:r>
              <a:t>暴露研究典範的基礎性局限 (Exposing Foundational Limitations of Research Paradigm)：AI代理者的吸引力與其局限性，共同揭示了當前認知科學研究典範中根深蒂固的問題。這些問題不僅限於技術層面，更觸及研究方法論、樣本選取和理論構建的基礎。</a:t>
            </a:r>
          </a:p>
          <a:p>
            <a:pPr>
              <a:lnSpc>
                <a:spcPct val="90000"/>
              </a:lnSpc>
              <a:spcBef>
                <a:spcPts val="300"/>
              </a:spcBef>
              <a:spcAft>
                <a:spcPts val="300"/>
              </a:spcAft>
              <a:defRPr sz="1100"/>
            </a:pPr>
            <a:r>
              <a:t>「泛化性幻覺」的誘惑 (Temptation of "Illusions of Generalizability")：AI代理者透過提供看似簡單、高效的解決方案，製造了一種泛化性幻覺 (Illusion of Generalizability)。研究者可能會因此誤以為已經克服了挑戰，進而忽視了真正需要解決的深層次問題。</a:t>
            </a:r>
          </a:p>
          <a:p>
            <a:pPr>
              <a:lnSpc>
                <a:spcPct val="90000"/>
              </a:lnSpc>
              <a:spcBef>
                <a:spcPts val="300"/>
              </a:spcBef>
              <a:spcAft>
                <a:spcPts val="300"/>
              </a:spcAft>
              <a:defRPr sz="1100"/>
            </a:pPr>
            <a:r>
              <a:t>不僅是技術問題，更是社會問題 (Not Just Technical, but Social Problems)：作者強調，泛化性問題的解決不僅需要技術層面的改進，更需要社會層面的解決方案。這包括重新思考研究倫理、促進更包容的研究實踐，以及建立多元化的研究社群。</a:t>
            </a:r>
          </a:p>
          <a:p>
            <a:pPr>
              <a:lnSpc>
                <a:spcPct val="90000"/>
              </a:lnSpc>
              <a:spcBef>
                <a:spcPts val="300"/>
              </a:spcBef>
              <a:spcAft>
                <a:spcPts val="300"/>
              </a:spcAft>
              <a:defRPr sz="1100"/>
            </a:pPr>
            <a:r>
              <a:t>需要批判性反思與範式轉變 (Requires Critical Reflection and Paradigm Shift)：對於AI代理者的應用，認知科學界需要保持批判性視角，並進行深刻的自我反思。這或許會促使學界對其研究範式進行必要的轉變，以追求真正廣泛和包容的科學知識。</a:t>
            </a:r>
          </a:p>
          <a:p>
            <a:pPr>
              <a:lnSpc>
                <a:spcPct val="90000"/>
              </a:lnSpc>
              <a:spcBef>
                <a:spcPts val="300"/>
              </a:spcBef>
              <a:spcAft>
                <a:spcPts val="300"/>
              </a:spcAft>
              <a:defRPr sz="1100"/>
            </a:pPr>
            <a:r>
              <a:t>不應盲目依賴 (Should Not Blindly Rely)：雖然AI模型在認知科學中存在許多潛在有益的應用，但對於將其作為人類研究參與者的直接替代品，應持謹慎態度，避免盲目依賴。需要明確區分AI作為工具與AI作為研究對象的差異。</a:t>
            </a:r>
          </a:p>
          <a:p>
            <a:pPr>
              <a:lnSpc>
                <a:spcPct val="90000"/>
              </a:lnSpc>
              <a:spcBef>
                <a:spcPts val="300"/>
              </a:spcBef>
              <a:spcAft>
                <a:spcPts val="300"/>
              </a:spcAft>
              <a:defRPr sz="1100"/>
            </a:pPr>
            <a:r>
              <a:t>揭示研究實踐的局限 (Revealing Limitations of Research Practices)：AI代理者的出現，實際上是對認知科學現有研究實踐的一種反向拷問。它迫使我們正視目前研究中存在的樣本偏差、情境狹隘等問題，並思考如何從根本上改進。</a:t>
            </a:r>
          </a:p>
          <a:p>
            <a:pPr>
              <a:lnSpc>
                <a:spcPct val="90000"/>
              </a:lnSpc>
              <a:spcBef>
                <a:spcPts val="300"/>
              </a:spcBef>
              <a:spcAft>
                <a:spcPts val="300"/>
              </a:spcAft>
              <a:defRPr sz="1100"/>
            </a:pPr>
            <a:r>
              <a:t>鼓勵更具包容性的認知科學 (Encouraging a More Inclusive Cognitive Science)：最終，本文旨在引導認知科學走向一條更具包容性的道路。這意味著要超越對技術解決方案的過度依賴，轉而關注如何構建更公平、更具代表性、更符合人類多樣性的研究框架。</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對認知科學研究典範的啟示</a:t>
            </a:r>
          </a:p>
        </p:txBody>
      </p:sp>
      <p:sp>
        <p:nvSpPr>
          <p:cNvPr id="3" name="Content Placeholder 2"/>
          <p:cNvSpPr>
            <a:spLocks noGrp="1"/>
          </p:cNvSpPr>
          <p:nvPr>
            <p:ph idx="1"/>
          </p:nvPr>
        </p:nvSpPr>
        <p:spPr/>
        <p:txBody>
          <a:bodyPr wrap="square"/>
          <a:lstStyle/>
          <a:p/>
          <a:p>
            <a:pPr>
              <a:lnSpc>
                <a:spcPct val="90000"/>
              </a:lnSpc>
              <a:spcBef>
                <a:spcPts val="300"/>
              </a:spcBef>
              <a:spcAft>
                <a:spcPts val="300"/>
              </a:spcAft>
              <a:defRPr sz="1100"/>
            </a:pPr>
            <a:r>
              <a:t>重新審視泛化性的定義 (Re-evaluating the Definition of Generalizability)：本文挑戰了對泛化性 (Generalizability) 的簡單理解，並指出AI代理者可能導致的泛化性幻覺 (Illusion of Generalizability)。這促使認知科學需要重新審視，何謂真正的泛化性，以及如何實際達成。</a:t>
            </a:r>
          </a:p>
          <a:p>
            <a:pPr>
              <a:lnSpc>
                <a:spcPct val="90000"/>
              </a:lnSpc>
              <a:spcBef>
                <a:spcPts val="300"/>
              </a:spcBef>
              <a:spcAft>
                <a:spcPts val="300"/>
              </a:spcAft>
              <a:defRPr sz="1100"/>
            </a:pPr>
            <a:r>
              <a:t>超越技術至上主義 (Moving Beyond Technosolutionism)：論文批判了僅憑技術解決複雜科學問題的技術至上主義 (Technosolutionism) 傾向。它強調，認知科學中的許多深層問題，如泛化性，並非單靠更先進的AI模型就能解決，還需要方法論和概念上的根本變革。</a:t>
            </a:r>
          </a:p>
          <a:p>
            <a:pPr>
              <a:lnSpc>
                <a:spcPct val="90000"/>
              </a:lnSpc>
              <a:spcBef>
                <a:spcPts val="300"/>
              </a:spcBef>
              <a:spcAft>
                <a:spcPts val="300"/>
              </a:spcAft>
              <a:defRPr sz="1100"/>
            </a:pPr>
            <a:r>
              <a:t>強調研究設計的包容性 (Emphasizing Inclusivity in Research Design)：AI代理者所暴露的訓練數據偏差問題，凸顯了從源頭上確保研究數據和方法具有包容性 (Inclusivity) 的重要性。這意味著需要主動尋求並納入來自不同文化、社會和人口背景的參與者。</a:t>
            </a:r>
          </a:p>
          <a:p>
            <a:pPr>
              <a:lnSpc>
                <a:spcPct val="90000"/>
              </a:lnSpc>
              <a:spcBef>
                <a:spcPts val="300"/>
              </a:spcBef>
              <a:spcAft>
                <a:spcPts val="300"/>
              </a:spcAft>
              <a:defRPr sz="1100"/>
            </a:pPr>
            <a:r>
              <a:t>呼籲多元研究方法的應用 (Advocating for Diverse Research Methods)：面對AI代理者的局限性，認知科學應鼓勵採用多元化的研究方法，包括定性研究、跨文化比較研究、田野實驗等。這些方法能夠捕捉到AI模擬可能遺漏的豐富人類經驗和情境特異性。</a:t>
            </a:r>
          </a:p>
          <a:p>
            <a:pPr>
              <a:lnSpc>
                <a:spcPct val="90000"/>
              </a:lnSpc>
              <a:spcBef>
                <a:spcPts val="300"/>
              </a:spcBef>
              <a:spcAft>
                <a:spcPts val="300"/>
              </a:spcAft>
              <a:defRPr sz="1100"/>
            </a:pPr>
            <a:r>
              <a:t>批判性地評估AI工具 (Critically Evaluating AI Tools)：研究者在使用AI工具時，需要保持高度的批判性，深入理解其工作原理、局限性及潛在偏差。這不僅適用於AI代理者，也適用於所有在科學研究中應用的AI技術。</a:t>
            </a:r>
          </a:p>
          <a:p>
            <a:pPr>
              <a:lnSpc>
                <a:spcPct val="90000"/>
              </a:lnSpc>
              <a:spcBef>
                <a:spcPts val="300"/>
              </a:spcBef>
              <a:spcAft>
                <a:spcPts val="300"/>
              </a:spcAft>
              <a:defRPr sz="1100"/>
            </a:pPr>
            <a:r>
              <a:t>重視倫理與社會影響 (Prioritizing Ethics and Social Impact)：AI代理者在模擬人類行為時所涉及的數據偏差和代表性問題，凸顯了研究倫理和社會影響的重要性。認知科學研究需要更加關注其研究實踐對社會公平和人類多元性的潛在影響。</a:t>
            </a:r>
          </a:p>
          <a:p>
            <a:pPr>
              <a:lnSpc>
                <a:spcPct val="90000"/>
              </a:lnSpc>
              <a:spcBef>
                <a:spcPts val="300"/>
              </a:spcBef>
              <a:spcAft>
                <a:spcPts val="300"/>
              </a:spcAft>
              <a:defRPr sz="1100"/>
            </a:pPr>
            <a:r>
              <a:t>鼓勵跨學科對話 (Encouraging Interdisciplinary Dialogue)：解決AI代理者帶來的挑戰，需要認知科學、哲學、社會學、倫理學和計算機科學等多個學科的共同努力。透過跨學科對話，可以對AI在認知研究中的角色進行更全面的審視。</a:t>
            </a:r>
          </a:p>
          <a:p>
            <a:pPr>
              <a:lnSpc>
                <a:spcPct val="90000"/>
              </a:lnSpc>
              <a:spcBef>
                <a:spcPts val="300"/>
              </a:spcBef>
              <a:spcAft>
                <a:spcPts val="300"/>
              </a:spcAft>
              <a:defRPr sz="1100"/>
            </a:pPr>
            <a:r>
              <a:t>追求真正且深入的理解 (Pursuing Genuine and Deep Understanding)：最終，本文提醒認知科學，其核心目標是對人類心智的真正且深入的理解 (Genuine and Deep Understanding)。這不應被表面上的效率或看似廣泛的數據所迷惑，而應持續追求對人類認知本質的探索。</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綜合討論：AI代理者在認知科學中的恰當定位</a:t>
            </a:r>
          </a:p>
        </p:txBody>
      </p:sp>
      <p:sp>
        <p:nvSpPr>
          <p:cNvPr id="3" name="Content Placeholder 2"/>
          <p:cNvSpPr>
            <a:spLocks noGrp="1"/>
          </p:cNvSpPr>
          <p:nvPr>
            <p:ph idx="1"/>
          </p:nvPr>
        </p:nvSpPr>
        <p:spPr/>
        <p:txBody>
          <a:bodyPr wrap="square"/>
          <a:lstStyle/>
          <a:p/>
          <a:p>
            <a:pPr>
              <a:lnSpc>
                <a:spcPct val="90000"/>
              </a:lnSpc>
              <a:spcBef>
                <a:spcPts val="300"/>
              </a:spcBef>
              <a:spcAft>
                <a:spcPts val="300"/>
              </a:spcAft>
              <a:defRPr sz="1100"/>
            </a:pPr>
            <a:r>
              <a:t>AI代理者的雙面性 (Duality of AI Surrogates)：AI代理者 (AI Surrogates) 在認知科學中既是潛在的強大工具，也攜帶了顯著的風險。它們的能力在於快速且經濟地模擬大量數據，但其局限性在於無法完全捕捉人類認知的深度、變異性和具身性。</a:t>
            </a:r>
          </a:p>
          <a:p>
            <a:pPr>
              <a:lnSpc>
                <a:spcPct val="90000"/>
              </a:lnSpc>
              <a:spcBef>
                <a:spcPts val="300"/>
              </a:spcBef>
              <a:spcAft>
                <a:spcPts val="300"/>
              </a:spcAft>
              <a:defRPr sz="1100"/>
            </a:pPr>
            <a:r>
              <a:t>避免「解決所有問題」的期望 (Avoiding "Solve-all-problems" Expectation)：我們應該警惕將AI代理者視為解決認知科學所有挑戰的萬能藥。認知科學的深層次問題，如泛化性、多樣性和複雜性，需要多面向的策略，而非單一技術方案。</a:t>
            </a:r>
          </a:p>
          <a:p>
            <a:pPr>
              <a:lnSpc>
                <a:spcPct val="90000"/>
              </a:lnSpc>
              <a:spcBef>
                <a:spcPts val="300"/>
              </a:spcBef>
              <a:spcAft>
                <a:spcPts val="300"/>
              </a:spcAft>
              <a:defRPr sz="1100"/>
            </a:pPr>
            <a:r>
              <a:t>AI作為輔助工具，而非替代品 (AI as Auxiliary Tool, Not Replacement)：AI代理者在某些情境下，可以作為輔助工具 (Auxiliary Tool)，例如用於實驗設計的初步測試、生成假設或補充數據。但它們不應被視為人類參與者的完全替代品。</a:t>
            </a:r>
          </a:p>
          <a:p>
            <a:pPr>
              <a:lnSpc>
                <a:spcPct val="90000"/>
              </a:lnSpc>
              <a:spcBef>
                <a:spcPts val="300"/>
              </a:spcBef>
              <a:spcAft>
                <a:spcPts val="300"/>
              </a:spcAft>
              <a:defRPr sz="1100"/>
            </a:pPr>
            <a:r>
              <a:t>關鍵在於數據的真實性與代表性 (Key Lies in Data Authenticity and Representativeness)：AI代理者的價值和局限性最終取決於其訓練數據的真實性 (Authenticity) 和代表性 (Representativeness)。如果訓練數據本身有偏差，則模擬結果也將繼承並可能放大這些偏差。</a:t>
            </a:r>
          </a:p>
          <a:p>
            <a:pPr>
              <a:lnSpc>
                <a:spcPct val="90000"/>
              </a:lnSpc>
              <a:spcBef>
                <a:spcPts val="300"/>
              </a:spcBef>
              <a:spcAft>
                <a:spcPts val="300"/>
              </a:spcAft>
              <a:defRPr sz="1100"/>
            </a:pPr>
            <a:r>
              <a:t>推動方法論創新 (Driving Methodological Innovation)：本文的批評並非否定AI技術的潛力，而是呼籲更深層次的方法論創新。這包括如何設計實驗以更好地結合AI模擬與人類數據，以及如何發展新的理論框架來解釋AI模型的行為。</a:t>
            </a:r>
          </a:p>
          <a:p>
            <a:pPr>
              <a:lnSpc>
                <a:spcPct val="90000"/>
              </a:lnSpc>
              <a:spcBef>
                <a:spcPts val="300"/>
              </a:spcBef>
              <a:spcAft>
                <a:spcPts val="300"/>
              </a:spcAft>
              <a:defRPr sz="1100"/>
            </a:pPr>
            <a:r>
              <a:t>認知科學的社會責任 (Social Responsibility of Cognitive Science)：利用AI代理者進行研究，賦予了認知科學界更大的社會責任。研究者必須意識到其方法的潛在偏差，並努力確保所產生的知識能夠真正地服務於所有人類群體。</a:t>
            </a:r>
          </a:p>
          <a:p>
            <a:pPr>
              <a:lnSpc>
                <a:spcPct val="90000"/>
              </a:lnSpc>
              <a:spcBef>
                <a:spcPts val="300"/>
              </a:spcBef>
              <a:spcAft>
                <a:spcPts val="300"/>
              </a:spcAft>
              <a:defRPr sz="1100"/>
            </a:pPr>
            <a:r>
              <a:t>未來研究方向 (Future Research Directions)：未來的研究應專注於開發能夠減輕偏差、提高模型解釋性、並更好地捕捉人類變異性的AI代理者。同時，也應探索如何將AI模擬與傳統人類研究方法有效結合，形成互補。</a:t>
            </a:r>
          </a:p>
          <a:p>
            <a:pPr>
              <a:lnSpc>
                <a:spcPct val="90000"/>
              </a:lnSpc>
              <a:spcBef>
                <a:spcPts val="300"/>
              </a:spcBef>
              <a:spcAft>
                <a:spcPts val="300"/>
              </a:spcAft>
              <a:defRPr sz="1100"/>
            </a:pPr>
            <a:r>
              <a:t>邁向更包容的科學 (Towards a More Inclusive Science)：最終目標是構建一個更包容的認知科學 (Inclusive Cognitive Science)，它不僅利用先進技術，更重要的是，能夠批判性地反思自身的局限，積極拓展研究範圍，確保對人類心智的理解是全面且具有代表性的。</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研究方法：AI代理者的架構、代理者類型與研究目標</a:t>
            </a:r>
          </a:p>
        </p:txBody>
      </p:sp>
      <p:sp>
        <p:nvSpPr>
          <p:cNvPr id="3" name="Content Placeholder 2"/>
          <p:cNvSpPr>
            <a:spLocks noGrp="1"/>
          </p:cNvSpPr>
          <p:nvPr>
            <p:ph idx="1"/>
          </p:nvPr>
        </p:nvSpPr>
        <p:spPr/>
        <p:txBody>
          <a:bodyPr wrap="square"/>
          <a:lstStyle/>
          <a:p/>
          <a:p>
            <a:pPr>
              <a:lnSpc>
                <a:spcPct val="90000"/>
              </a:lnSpc>
              <a:spcBef>
                <a:spcPts val="300"/>
              </a:spcBef>
              <a:spcAft>
                <a:spcPts val="300"/>
              </a:spcAft>
              <a:defRPr sz="1100"/>
            </a:pPr>
            <a:r>
              <a:t>AI代理者的研究架構多樣性 (Diversity in AI Surrogate Architectures)：論文指出，AI代理者 (AI Surrogates) 研究在底層架構、代理者類型和模擬目標上呈現多樣性。這意味著這些研究並非採用單一固定的方法，而是根據需求進行調整。</a:t>
            </a:r>
          </a:p>
          <a:p>
            <a:pPr>
              <a:lnSpc>
                <a:spcPct val="90000"/>
              </a:lnSpc>
              <a:spcBef>
                <a:spcPts val="300"/>
              </a:spcBef>
              <a:spcAft>
                <a:spcPts val="300"/>
              </a:spcAft>
              <a:defRPr sz="1100"/>
            </a:pPr>
            <a:r>
              <a:t>建築設計的演進 (Evolution of Architectural Design)：最初的研究多使用現成的大型語言模型 (LLMs)，如OpenAI的GPT系列，並將其輸出與人類參與者進行比較。隨後，發展出提示工程 (Prompting)、微調 (Fine-tuning) 和增強型模型 (Augmented Models) 等方法，以更精確地引導LLMs的行為。</a:t>
            </a:r>
          </a:p>
          <a:p>
            <a:pPr>
              <a:lnSpc>
                <a:spcPct val="90000"/>
              </a:lnSpc>
              <a:spcBef>
                <a:spcPts val="300"/>
              </a:spcBef>
              <a:spcAft>
                <a:spcPts val="300"/>
              </a:spcAft>
              <a:defRPr sz="1100"/>
            </a:pPr>
            <a:r>
              <a:t>提示工程與身份扮演 (Prompting and Identity Adoption)：提示工程 (Prompting) 是一種讓LLM採用特定身份、立場或社會角色的方法。研究者透過文字指令告訴模型它應該「是誰」或「如何回應」，從而模擬不同個體的行為模式。</a:t>
            </a:r>
          </a:p>
          <a:p>
            <a:pPr>
              <a:lnSpc>
                <a:spcPct val="90000"/>
              </a:lnSpc>
              <a:spcBef>
                <a:spcPts val="300"/>
              </a:spcBef>
              <a:spcAft>
                <a:spcPts val="300"/>
              </a:spcAft>
              <a:defRPr sz="1100"/>
            </a:pPr>
            <a:r>
              <a:t>微調與任務特定化 (Fine-tuning and Task Specialization)：微調 (Fine-tuning) 涉及對LLM進行額外的訓練，以調整其參數，使其適應特定的任務領域。這種方法可以使AI代理者在特定認知任務上表現得更像人類。</a:t>
            </a:r>
          </a:p>
          <a:p>
            <a:pPr>
              <a:lnSpc>
                <a:spcPct val="90000"/>
              </a:lnSpc>
              <a:spcBef>
                <a:spcPts val="300"/>
              </a:spcBef>
              <a:spcAft>
                <a:spcPts val="300"/>
              </a:spcAft>
              <a:defRPr sz="1100"/>
            </a:pPr>
            <a:r>
              <a:t>代理者類型的廣度 (Breadth of Agent Types)：AI代理者被設想能代表不同規模和特異性的人類。從嘗試構建「捕捉整個人類心智」的通用代理者 (Universal Agent)，到透過數據和指令代表特定人口統計學群體 (Demographic Subgroups) 乃至具體個體 (Specific Individuals) 的模型。</a:t>
            </a:r>
          </a:p>
          <a:p>
            <a:pPr>
              <a:lnSpc>
                <a:spcPct val="90000"/>
              </a:lnSpc>
              <a:spcBef>
                <a:spcPts val="300"/>
              </a:spcBef>
              <a:spcAft>
                <a:spcPts val="300"/>
              </a:spcAft>
              <a:defRPr sz="1100"/>
            </a:pPr>
            <a:r>
              <a:t>生成式代理者的概念 (Concept of Generative Agents)：當LLMs被提示以代表特定個人時，無論是虛構的還是基於真實人物的文本檔案，這些自我一致的代理者 (Self-consistent agents) 被稱為生成式代理者 (Generative agents)。它們可被指示在時間中行動和互動，作為人類行為的模型。</a:t>
            </a:r>
          </a:p>
          <a:p>
            <a:pPr>
              <a:lnSpc>
                <a:spcPct val="90000"/>
              </a:lnSpc>
              <a:spcBef>
                <a:spcPts val="300"/>
              </a:spcBef>
              <a:spcAft>
                <a:spcPts val="300"/>
              </a:spcAft>
              <a:defRPr sz="1100"/>
            </a:pPr>
            <a:r>
              <a:t>多樣化的研究目標 (Diverse Research Goals)：AI代理者的應用範圍廣泛，包括評估過去研究結果的可重複性 (Replicability)、對新實驗設計進行預測試 (Pilot Testing)、模擬人類行為以估計結果在不同刺激和人群中的泛化性 (Generalizability)，以及在虛擬世界中模擬複雜的社會現象。</a:t>
            </a:r>
          </a:p>
          <a:p>
            <a:pPr>
              <a:lnSpc>
                <a:spcPct val="90000"/>
              </a:lnSpc>
              <a:spcBef>
                <a:spcPts val="300"/>
              </a:spcBef>
              <a:spcAft>
                <a:spcPts val="300"/>
              </a:spcAft>
              <a:defRPr sz="1100"/>
            </a:pPr>
            <a:r>
              <a:t>未來架構的展望 (Outlook on Future Architectures)：儘管目前大多集中於LLMs，但論文預期未來研究可能用新的架構取代LLMs，這些架構可能更緊密地模擬人類認知，進一步提升AI代理者的模擬能力。</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主要發現：AI代理者的優勢與其局限性</a:t>
            </a:r>
          </a:p>
        </p:txBody>
      </p:sp>
      <p:sp>
        <p:nvSpPr>
          <p:cNvPr id="3" name="Content Placeholder 2"/>
          <p:cNvSpPr>
            <a:spLocks noGrp="1"/>
          </p:cNvSpPr>
          <p:nvPr>
            <p:ph idx="1"/>
          </p:nvPr>
        </p:nvSpPr>
        <p:spPr/>
        <p:txBody>
          <a:bodyPr wrap="square"/>
          <a:lstStyle/>
          <a:p/>
          <a:p>
            <a:pPr>
              <a:lnSpc>
                <a:spcPct val="90000"/>
              </a:lnSpc>
              <a:spcBef>
                <a:spcPts val="300"/>
              </a:spcBef>
              <a:spcAft>
                <a:spcPts val="300"/>
              </a:spcAft>
              <a:defRPr sz="1100"/>
            </a:pPr>
            <a:r>
              <a:t>AI代理者的潛在優勢 (Potential Advantages of AI Surrogates)：論文承認AI代理者具備多項吸引人的潛力，包括提高研究效率、降低成本、擴大實驗設計空間以及增加潛在參與者樣本的多樣性。這些優勢使其成為認知科學研究領域的熱門話題。</a:t>
            </a:r>
          </a:p>
          <a:p>
            <a:pPr>
              <a:lnSpc>
                <a:spcPct val="90000"/>
              </a:lnSpc>
              <a:spcBef>
                <a:spcPts val="300"/>
              </a:spcBef>
              <a:spcAft>
                <a:spcPts val="300"/>
              </a:spcAft>
              <a:defRPr sz="1100"/>
            </a:pPr>
            <a:r>
              <a:t>LLMs的「類人」表現 (Human-like Performance of LLMs)：研究發現，大型語言模型 (LLMs) 能夠在自然語言、學習、決策、同理心和道德判斷等廣泛任務上模仿人類的表現。這種高度相似性是人們對AI代理者抱持熱情的基礎。</a:t>
            </a:r>
          </a:p>
          <a:p>
            <a:pPr>
              <a:lnSpc>
                <a:spcPct val="90000"/>
              </a:lnSpc>
              <a:spcBef>
                <a:spcPts val="300"/>
              </a:spcBef>
              <a:spcAft>
                <a:spcPts val="300"/>
              </a:spcAft>
              <a:defRPr sz="1100"/>
            </a:pPr>
            <a:r>
              <a:t>訓練數據的固有偏差 (Inherent Biases from Training Data)：然而，論文也明確指出AI代理者的主要局限。LLMs傾向於過度代表訓練數據中的多數觀點 (Majority Viewpoints)，導致其模擬結果可能帶有系統性偏差，無法代表人類的真實多樣性。</a:t>
            </a:r>
          </a:p>
          <a:p>
            <a:pPr>
              <a:lnSpc>
                <a:spcPct val="90000"/>
              </a:lnSpc>
              <a:spcBef>
                <a:spcPts val="300"/>
              </a:spcBef>
              <a:spcAft>
                <a:spcPts val="300"/>
              </a:spcAft>
              <a:defRPr sz="1100"/>
            </a:pPr>
            <a:r>
              <a:t>缺乏真實變異性 (Lack of True Variability)：AI代理者 (AI Surrogates) 難以重現人類反應中固有的變異性 (Variability)。它們的輸出往往過於一致，無法捕捉到真實人類行為的自然波動、個體差異以及對罕見刺激的非典型反應。</a:t>
            </a:r>
          </a:p>
          <a:p>
            <a:pPr>
              <a:lnSpc>
                <a:spcPct val="90000"/>
              </a:lnSpc>
              <a:spcBef>
                <a:spcPts val="300"/>
              </a:spcBef>
              <a:spcAft>
                <a:spcPts val="300"/>
              </a:spcAft>
              <a:defRPr sz="1100"/>
            </a:pPr>
            <a:r>
              <a:t>模型解釋性與穩定性問題 (Interpretability and Stability Issues of Models)：LLMs作為「黑箱」模型，其內部運作難以解釋，導致研究者難以理解其行為背後的「認知」過程。此外，模型輸出有時會因未知原因而不穩定，影響研究的可靠性。</a:t>
            </a:r>
          </a:p>
          <a:p>
            <a:pPr>
              <a:lnSpc>
                <a:spcPct val="90000"/>
              </a:lnSpc>
              <a:spcBef>
                <a:spcPts val="300"/>
              </a:spcBef>
              <a:spcAft>
                <a:spcPts val="300"/>
              </a:spcAft>
              <a:defRPr sz="1100"/>
            </a:pPr>
            <a:r>
              <a:t>對人類認知的模擬局限 (Limitations in Simulating Human Cognition)：論文對AI代理者能否真正具備人類般的世界知識 (World Knowledge)、常識推理 (Common-sense Reasoning) 和理解 (Understanding) 提出質疑。缺乏具身性、情感和自我意識，使其在模擬複雜認知上存在根本缺陷。</a:t>
            </a:r>
          </a:p>
          <a:p>
            <a:pPr>
              <a:lnSpc>
                <a:spcPct val="90000"/>
              </a:lnSpc>
              <a:spcBef>
                <a:spcPts val="300"/>
              </a:spcBef>
              <a:spcAft>
                <a:spcPts val="300"/>
              </a:spcAft>
              <a:defRPr sz="1100"/>
            </a:pPr>
            <a:r>
              <a:t>計算上的不可行性 (Computational Intractability)：一些觀點認為，在矽基 (in silico) 環境中全面模擬人類認知在計算上是不可行的 (Computationally Intractable)，最終只會產生「扭曲和貧乏的觀點」。</a:t>
            </a:r>
          </a:p>
          <a:p>
            <a:pPr>
              <a:lnSpc>
                <a:spcPct val="90000"/>
              </a:lnSpc>
              <a:spcBef>
                <a:spcPts val="300"/>
              </a:spcBef>
              <a:spcAft>
                <a:spcPts val="300"/>
              </a:spcAft>
              <a:defRPr sz="1100"/>
            </a:pPr>
            <a:r>
              <a:t>「泛化性幻覺」與「探討性廣度幻覺」 (Illusions of Generalizability and Exploratory Breadth)：最關鍵的發現是，過度依賴AI代理者會導致泛化性幻覺 (Illusion of Generalizability) 和探討性廣度幻覺 (Illusion of exploratory breadth)。研究者會錯誤地認為其發現比實際情況更具普遍性，或已探索了所有可能的假設空間，進而掩蓋了真正的問題。</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主要發現：AI代理者對泛化性問題的影響</a:t>
            </a:r>
          </a:p>
        </p:txBody>
      </p:sp>
      <p:sp>
        <p:nvSpPr>
          <p:cNvPr id="3" name="Content Placeholder 2"/>
          <p:cNvSpPr>
            <a:spLocks noGrp="1"/>
          </p:cNvSpPr>
          <p:nvPr>
            <p:ph idx="1"/>
          </p:nvPr>
        </p:nvSpPr>
        <p:spPr/>
        <p:txBody>
          <a:bodyPr wrap="square"/>
          <a:lstStyle/>
          <a:p/>
          <a:p>
            <a:pPr>
              <a:lnSpc>
                <a:spcPct val="90000"/>
              </a:lnSpc>
              <a:spcBef>
                <a:spcPts val="300"/>
              </a:spcBef>
              <a:spcAft>
                <a:spcPts val="300"/>
              </a:spcAft>
              <a:defRPr sz="1100"/>
            </a:pPr>
            <a:r>
              <a:t>泛化性問題的定義 (Definition of Generalizability Problem)：在認知科學中，泛化性 (Generalizability) 關注的是科學主張能否適用於研究條件之外，例如不同的人類群體 (Human Populations) 或環境背景 (Environmental Contexts)。這是一個長期存在的挑戰。</a:t>
            </a:r>
          </a:p>
          <a:p>
            <a:pPr>
              <a:lnSpc>
                <a:spcPct val="90000"/>
              </a:lnSpc>
              <a:spcBef>
                <a:spcPts val="300"/>
              </a:spcBef>
              <a:spcAft>
                <a:spcPts val="300"/>
              </a:spcAft>
              <a:defRPr sz="1100"/>
            </a:pPr>
            <a:r>
              <a:t>AI代理者的表面承諾 (Surface Promise of AI Surrogates)：支持者認為，AI代理者 (AI Surrogates) 能夠透過「快速且廉價」的方式，擴展參與者樣本的多樣性 (Diversity) 和實驗設計的情境範圍 (Context Range)，從而改善研究的泛化性。</a:t>
            </a:r>
          </a:p>
          <a:p>
            <a:pPr>
              <a:lnSpc>
                <a:spcPct val="90000"/>
              </a:lnSpc>
              <a:spcBef>
                <a:spcPts val="300"/>
              </a:spcBef>
              <a:spcAft>
                <a:spcPts val="300"/>
              </a:spcAft>
              <a:defRPr sz="1100"/>
            </a:pPr>
            <a:r>
              <a:t>作者的核心論點 (Authors' Core Argument)：然而，本文的作者挑戰了這一觀點，他們的核心主張是，過度依賴AI代理者反而可能固化 (Entrench) 這些泛化性問題，而非解決它們。它們未能觸及問題的根源。</a:t>
            </a:r>
          </a:p>
          <a:p>
            <a:pPr>
              <a:lnSpc>
                <a:spcPct val="90000"/>
              </a:lnSpc>
              <a:spcBef>
                <a:spcPts val="300"/>
              </a:spcBef>
              <a:spcAft>
                <a:spcPts val="300"/>
              </a:spcAft>
              <a:defRPr sz="1100"/>
            </a:pPr>
            <a:r>
              <a:t>「泛化性幻覺」的產生 (Emergence of "Illusion of Generalizability")：AI代理者透過看似「克服」了泛化性挑戰的方式，製造了一種泛化性幻覺 (Illusion of Generalizability)。研究者會因此錯誤地相信他們的發現比實際情況更具普遍適用性。</a:t>
            </a:r>
          </a:p>
          <a:p>
            <a:pPr>
              <a:lnSpc>
                <a:spcPct val="90000"/>
              </a:lnSpc>
              <a:spcBef>
                <a:spcPts val="300"/>
              </a:spcBef>
              <a:spcAft>
                <a:spcPts val="300"/>
              </a:spcAft>
              <a:defRPr sz="1100"/>
            </a:pPr>
            <a:r>
              <a:t>對特定群體和主題的固有排除 (Inherent Exclusion of Certain Populations and Topics)：AI代理者之所以無法改善真正的泛化性，是因為它們本質上排除了 (Inherently Excludes) 某些特定人群和研究主題。這可能是由於訓練數據的偏差、模型架構的局限或其缺乏真實的具身經驗。</a:t>
            </a:r>
          </a:p>
          <a:p>
            <a:pPr>
              <a:lnSpc>
                <a:spcPct val="90000"/>
              </a:lnSpc>
              <a:spcBef>
                <a:spcPts val="300"/>
              </a:spcBef>
              <a:spcAft>
                <a:spcPts val="300"/>
              </a:spcAft>
              <a:defRPr sz="1100"/>
            </a:pPr>
            <a:r>
              <a:t>「探討性廣度幻覺」的限制 (Limitations from "Illusion of Exploratory Breadth")：伴隨泛化性幻覺的還有探討性廣度幻覺 (Illusion of exploratory breadth)，即研究者誤以為已探索了所有可能的假設，但實際上只在AI工具能夠操作的狹窄範圍內進行。這限制了新知識的發現。</a:t>
            </a:r>
          </a:p>
          <a:p>
            <a:pPr>
              <a:lnSpc>
                <a:spcPct val="90000"/>
              </a:lnSpc>
              <a:spcBef>
                <a:spcPts val="300"/>
              </a:spcBef>
              <a:spcAft>
                <a:spcPts val="300"/>
              </a:spcAft>
              <a:defRPr sz="1100"/>
            </a:pPr>
            <a:r>
              <a:t>未解決根本問題的假象 (False Impression of Problem Resolution)：AI代理者創造了一種問題已被解決的假象，從而阻礙了對這些基礎性局限的社會和技術解決方案 (Social and Technological Solutions) 的真正需求。這使得認知科學無法從根本上提升其包容性。</a:t>
            </a:r>
          </a:p>
          <a:p>
            <a:pPr>
              <a:lnSpc>
                <a:spcPct val="90000"/>
              </a:lnSpc>
              <a:spcBef>
                <a:spcPts val="300"/>
              </a:spcBef>
              <a:spcAft>
                <a:spcPts val="300"/>
              </a:spcAft>
              <a:defRPr sz="1100"/>
            </a:pPr>
            <a:r>
              <a:t>加劇而非改善 (Exacerbation Instead of Improvement)：總體而言，論文認為，AI代理者的應用雖然看似前衛和高效，但若未能深刻認識其局限性，反而會加劇認知科學長期存在的泛化性問題，阻礙了向更具代表性、更全面理解人類心智的進步。</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結論：AI代理者與包容性認知科學的未來</a:t>
            </a:r>
          </a:p>
        </p:txBody>
      </p:sp>
      <p:sp>
        <p:nvSpPr>
          <p:cNvPr id="3" name="Content Placeholder 2"/>
          <p:cNvSpPr>
            <a:spLocks noGrp="1"/>
          </p:cNvSpPr>
          <p:nvPr>
            <p:ph idx="1"/>
          </p:nvPr>
        </p:nvSpPr>
        <p:spPr/>
        <p:txBody>
          <a:bodyPr wrap="square"/>
          <a:lstStyle/>
          <a:p/>
          <a:p>
            <a:pPr>
              <a:lnSpc>
                <a:spcPct val="90000"/>
              </a:lnSpc>
              <a:spcBef>
                <a:spcPts val="300"/>
              </a:spcBef>
              <a:spcAft>
                <a:spcPts val="300"/>
              </a:spcAft>
              <a:defRPr sz="1100"/>
            </a:pPr>
            <a:r>
              <a:t>AI代理者無法取代人類 (AI Surrogates Cannot Replace Humans)：根據本文的分析，AI代理者 (AI Surrogates) 雖然在特定任務上展現出潛力，但由於其內在的數據偏差、缺乏真實變異性、解釋性不足以及對人類認知本質的模擬局限，它們無法完全取代人類作為認知科學的研究對象。</a:t>
            </a:r>
          </a:p>
          <a:p>
            <a:pPr>
              <a:lnSpc>
                <a:spcPct val="90000"/>
              </a:lnSpc>
              <a:spcBef>
                <a:spcPts val="300"/>
              </a:spcBef>
              <a:spcAft>
                <a:spcPts val="300"/>
              </a:spcAft>
              <a:defRPr sz="1100"/>
            </a:pPr>
            <a:r>
              <a:t>「泛化性幻覺」的警示 (Warning Against "Illusions of Generalizability")：過度依賴AI代理者最大的危險在於會產生泛化性幻覺 (Illusion of Generalizability)，使研究者誤認為已解決了研究的普適性問題。這阻礙了對認知科學根深蒂固局限性的真實認識和解決。</a:t>
            </a:r>
          </a:p>
          <a:p>
            <a:pPr>
              <a:lnSpc>
                <a:spcPct val="90000"/>
              </a:lnSpc>
              <a:spcBef>
                <a:spcPts val="300"/>
              </a:spcBef>
              <a:spcAft>
                <a:spcPts val="300"/>
              </a:spcAft>
              <a:defRPr sz="1100"/>
            </a:pPr>
            <a:r>
              <a:t>呼籲更廣泛的科學反思 (Call for Broader Scientific Reflection)：AI代理者的興起及其局限性，不僅是對技術能力的檢驗，更是對認知科學研究典範的深刻反思。它促使我們思考如何構建一個更包容 (Inclusive)、更嚴謹 (Rigorous)、更具代表性 (Representative) 的科學。</a:t>
            </a:r>
          </a:p>
          <a:p>
            <a:pPr>
              <a:lnSpc>
                <a:spcPct val="90000"/>
              </a:lnSpc>
              <a:spcBef>
                <a:spcPts val="300"/>
              </a:spcBef>
              <a:spcAft>
                <a:spcPts val="300"/>
              </a:spcAft>
              <a:defRPr sz="1100"/>
            </a:pPr>
            <a:r>
              <a:t>超越技術解決方案 (Moving Beyond Technological Fixes)：解決泛化性問題需要超越單純的技術解決方案，而是應結合社會和技術 (Social and Technological) 策略。這包括改進數據採集、促進跨文化研究、以及多元化研究者隊伍。</a:t>
            </a:r>
          </a:p>
          <a:p>
            <a:pPr>
              <a:lnSpc>
                <a:spcPct val="90000"/>
              </a:lnSpc>
              <a:spcBef>
                <a:spcPts val="300"/>
              </a:spcBef>
              <a:spcAft>
                <a:spcPts val="300"/>
              </a:spcAft>
              <a:defRPr sz="1100"/>
            </a:pPr>
            <a:r>
              <a:t>AI作為工具而非目標 (AI as a Tool, Not an End Goal)：AI模型應被視為增強研究能力的工具 (Tool)，而不是研究本身的終極目標。我們應該利用其優勢來輔助、補充，而不是取代人類參與者，尤其是在涉及人類獨特經驗和複雜認知的方面。</a:t>
            </a:r>
          </a:p>
          <a:p>
            <a:pPr>
              <a:lnSpc>
                <a:spcPct val="90000"/>
              </a:lnSpc>
              <a:spcBef>
                <a:spcPts val="300"/>
              </a:spcBef>
              <a:spcAft>
                <a:spcPts val="300"/>
              </a:spcAft>
              <a:defRPr sz="1100"/>
            </a:pPr>
            <a:r>
              <a:t>建立更負責任的AI應用規範 (Establishing Responsible AI Application Guidelines)：認知科學界需要制定清晰的規範和最佳實踐，指導如何負責任地應用AI代理者。這包括對其局限性有明確的認識，並在報告結果時保持透明度。</a:t>
            </a:r>
          </a:p>
          <a:p>
            <a:pPr>
              <a:lnSpc>
                <a:spcPct val="90000"/>
              </a:lnSpc>
              <a:spcBef>
                <a:spcPts val="300"/>
              </a:spcBef>
              <a:spcAft>
                <a:spcPts val="300"/>
              </a:spcAft>
              <a:defRPr sz="1100"/>
            </a:pPr>
            <a:r>
              <a:t>重塑認知科學的未來 (Reshaping the Future of Cognitive Science)：這場關於AI代理者的討論，為認知科學提供了重新思考其未來方向的機會。一個真正具有影響力的認知科學，應當致力於理解全人類的認知多樣性，而非僅僅是某個特定群體或透過偏頗工具得出的結果。</a:t>
            </a:r>
          </a:p>
          <a:p>
            <a:pPr>
              <a:lnSpc>
                <a:spcPct val="90000"/>
              </a:lnSpc>
              <a:spcBef>
                <a:spcPts val="300"/>
              </a:spcBef>
              <a:spcAft>
                <a:spcPts val="300"/>
              </a:spcAft>
              <a:defRPr sz="1100"/>
            </a:pPr>
            <a:r>
              <a:t>鼓勵多元化與深度理解 (Encouraging Diversity and Deep Understanding)：最終，認知科學應繼續鼓勵對人類心智進行多元化且深入的理解。這意味著要擁抱複雜性，接受變異性，並透過多種途徑，而非單一的AI模擬，來探索人類認知的豐富性。</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討論與未來展望：邁向更包容的認知科學</a:t>
            </a:r>
          </a:p>
        </p:txBody>
      </p:sp>
      <p:sp>
        <p:nvSpPr>
          <p:cNvPr id="3" name="Content Placeholder 2"/>
          <p:cNvSpPr>
            <a:spLocks noGrp="1"/>
          </p:cNvSpPr>
          <p:nvPr>
            <p:ph idx="1"/>
          </p:nvPr>
        </p:nvSpPr>
        <p:spPr/>
        <p:txBody>
          <a:bodyPr wrap="square"/>
          <a:lstStyle/>
          <a:p/>
          <a:p>
            <a:pPr>
              <a:lnSpc>
                <a:spcPct val="90000"/>
              </a:lnSpc>
              <a:spcBef>
                <a:spcPts val="300"/>
              </a:spcBef>
              <a:spcAft>
                <a:spcPts val="300"/>
              </a:spcAft>
              <a:defRPr sz="1100"/>
            </a:pPr>
            <a:r>
              <a:t>當前研究的啟示 (Implications of Current Research)：本文強調，對AI代理者 (AI Surrogates) 的過度依賴將阻礙認知科學解決其長期存在的泛化性 (Generalizability) 挑戰，並可能導致對研究結果的誤讀。這迫使學界思考如何真正推進對人類心智的理解。</a:t>
            </a:r>
          </a:p>
          <a:p>
            <a:pPr>
              <a:lnSpc>
                <a:spcPct val="90000"/>
              </a:lnSpc>
              <a:spcBef>
                <a:spcPts val="300"/>
              </a:spcBef>
              <a:spcAft>
                <a:spcPts val="300"/>
              </a:spcAft>
              <a:defRPr sz="1100"/>
            </a:pPr>
            <a:r>
              <a:t>重新聚焦人類核心價值 (Re-focusing on Core Human Values)：在AI技術快速發展的背景下，認知科學應重新強調對人類經驗、情感、文化脈絡和個體差異的重視。這些是AI代理者難以捕捉，卻是理解人類認知不可或缺的要素。</a:t>
            </a:r>
          </a:p>
          <a:p>
            <a:pPr>
              <a:lnSpc>
                <a:spcPct val="90000"/>
              </a:lnSpc>
              <a:spcBef>
                <a:spcPts val="300"/>
              </a:spcBef>
              <a:spcAft>
                <a:spcPts val="300"/>
              </a:spcAft>
              <a:defRPr sz="1100"/>
            </a:pPr>
            <a:r>
              <a:t>發展混合研究方法 (Developing Hybrid Research Methodologies)：未來的研究應探索將AI代理者的計算能力與人類實驗的真實性和深度相結合的混合研究方法 (Hybrid Research Methodologies)。例如，AI可以生成初步假設，而人類研究則進行驗證和情境化。</a:t>
            </a:r>
          </a:p>
          <a:p>
            <a:pPr>
              <a:lnSpc>
                <a:spcPct val="90000"/>
              </a:lnSpc>
              <a:spcBef>
                <a:spcPts val="300"/>
              </a:spcBef>
              <a:spcAft>
                <a:spcPts val="300"/>
              </a:spcAft>
              <a:defRPr sz="1100"/>
            </a:pPr>
            <a:r>
              <a:t>提升AI代理者的透明度與可解釋性 (Improving AI Surrogates' Transparency and Interpretability)：為了讓AI代理者在研究中發揮更負責任的作用，需要開發能夠提升其透明度 (Transparency) 和可解釋性 (Interpretability) 的模型。這將有助於研究者理解模型的決策過程及其局限性。</a:t>
            </a:r>
          </a:p>
          <a:p>
            <a:pPr>
              <a:lnSpc>
                <a:spcPct val="90000"/>
              </a:lnSpc>
              <a:spcBef>
                <a:spcPts val="300"/>
              </a:spcBef>
              <a:spcAft>
                <a:spcPts val="300"/>
              </a:spcAft>
              <a:defRPr sz="1100"/>
            </a:pPr>
            <a:r>
              <a:t>解決訓練數據偏差的策略 (Strategies for Addressing Training Data Bias)：必須積極開發和實施策略來緩解LLM訓練數據中的偏差，例如透過更多樣化 (Diversified)、平衡 (Balanced) 和情境化 (Contextualized) 的數據集。這將是提高AI代理者代表性的關鍵。</a:t>
            </a:r>
          </a:p>
          <a:p>
            <a:pPr>
              <a:lnSpc>
                <a:spcPct val="90000"/>
              </a:lnSpc>
              <a:spcBef>
                <a:spcPts val="300"/>
              </a:spcBef>
              <a:spcAft>
                <a:spcPts val="300"/>
              </a:spcAft>
              <a:defRPr sz="1100"/>
            </a:pPr>
            <a:r>
              <a:t>培養批判性思維與AI素養 (Fostering Critical Thinking and AI Literacy)：研究者和學生都需要培養批判性思維能力，以評估AI工具的優勢和局限性，並建立對AI倫理影響的素養 (Literacy)。這將確保AI在科學研究中得到明智和負責任的應用。</a:t>
            </a:r>
          </a:p>
          <a:p>
            <a:pPr>
              <a:lnSpc>
                <a:spcPct val="90000"/>
              </a:lnSpc>
              <a:spcBef>
                <a:spcPts val="300"/>
              </a:spcBef>
              <a:spcAft>
                <a:spcPts val="300"/>
              </a:spcAft>
              <a:defRPr sz="1100"/>
            </a:pPr>
            <a:r>
              <a:t>構建全球化和合作性的研究網絡 (Building Global and Collaborative Research Networks)：為了實現真正的泛化性，認知科學需要鼓勵更全球化 (Globalized) 和合作性 (Collaborative) 的研究網絡。這意味著要促進來自不同地域和文化背景的研究者共同參與，共同定義研究問題和方法。</a:t>
            </a:r>
          </a:p>
          <a:p>
            <a:pPr>
              <a:lnSpc>
                <a:spcPct val="90000"/>
              </a:lnSpc>
              <a:spcBef>
                <a:spcPts val="300"/>
              </a:spcBef>
              <a:spcAft>
                <a:spcPts val="300"/>
              </a:spcAft>
              <a:defRPr sz="1100"/>
            </a:pPr>
            <a:r>
              <a:t>最終目標：更為包容的認知科學 (Ultimate Goal: A More Inclusive Cognitive Science)：最終目標是邁向一個真正包容的認知科學 (Inclusive Cognitive Science)。這不僅是技術上的進步，更是科學文化和價值觀的轉變，以確保我們對人類心智的理解能夠反映並尊重其全部的複雜性和多樣性。</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